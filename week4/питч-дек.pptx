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"/>
      <p:regular r:id="rId17"/>
    </p:embeddedFont>
    <p:embeddedFont>
      <p:font typeface="Montserrat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rId17.fntdata"/><Relationship Id="rId18" Type="http://schemas.openxmlformats.org/officeDocument/2006/relationships/font" Target="fonts/rId1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91125" y="476250"/>
            <a:ext cx="4476750" cy="4476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875" y="409575"/>
            <a:ext cx="2857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6C4BE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· 2026</a:t>
            </a:r>
            <a:endParaRPr lang="en-US" sz="499" dirty="0"/>
          </a:p>
        </p:txBody>
      </p:sp>
      <p:sp>
        <p:nvSpPr>
          <p:cNvPr id="4" name="Text 1"/>
          <p:cNvSpPr/>
          <p:nvPr/>
        </p:nvSpPr>
        <p:spPr>
          <a:xfrm>
            <a:off x="523875" y="895350"/>
            <a:ext cx="3905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135" b="1" spc="-53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ПЯТНИЦА</a:t>
            </a:r>
            <a:endParaRPr lang="en-US" sz="3135" dirty="0"/>
          </a:p>
        </p:txBody>
      </p:sp>
      <p:sp>
        <p:nvSpPr>
          <p:cNvPr id="5" name="Text 2"/>
          <p:cNvSpPr/>
          <p:nvPr/>
        </p:nvSpPr>
        <p:spPr>
          <a:xfrm>
            <a:off x="523875" y="1609725"/>
            <a:ext cx="390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Голосовой AI-ассистент,</a:t>
            </a:r>
            <a:endParaRPr lang="en-US" sz="1283" dirty="0"/>
          </a:p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который управляет Windows за вас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523875" y="2571750"/>
            <a:ext cx="3619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6C4BE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Говорите — «Пятница» сделает</a:t>
            </a:r>
            <a:endParaRPr lang="en-US" sz="641" dirty="0"/>
          </a:p>
        </p:txBody>
      </p:sp>
      <p:sp>
        <p:nvSpPr>
          <p:cNvPr id="7" name="Text 4"/>
          <p:cNvSpPr/>
          <p:nvPr/>
        </p:nvSpPr>
        <p:spPr>
          <a:xfrm>
            <a:off x="523875" y="2990850"/>
            <a:ext cx="3619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ГОЛОС   →   AI   →   ДЕЙСТВИЕ</a:t>
            </a:r>
            <a:endParaRPr lang="en-US" sz="499" dirty="0"/>
          </a:p>
        </p:txBody>
      </p:sp>
      <p:sp>
        <p:nvSpPr>
          <p:cNvPr id="8" name="Shape 5"/>
          <p:cNvSpPr/>
          <p:nvPr/>
        </p:nvSpPr>
        <p:spPr>
          <a:xfrm>
            <a:off x="5334000" y="714375"/>
            <a:ext cx="3286125" cy="3619500"/>
          </a:xfrm>
          <a:prstGeom prst="roundRect">
            <a:avLst>
              <a:gd name="adj" fmla="val 8904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43550" y="923925"/>
            <a:ext cx="628650" cy="6286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43550" y="1666875"/>
            <a:ext cx="2066925" cy="91440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43550" y="2581275"/>
            <a:ext cx="733425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76225"/>
            <a:ext cx="2381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6C4BE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ПРОБЛЕМА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476250" y="514350"/>
            <a:ext cx="7143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Компьютеры становятся умнее.</a:t>
            </a:r>
            <a:endParaRPr lang="en-US" sz="2138" dirty="0"/>
          </a:p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Управляем мы ими всё ещё вручную.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76250" y="1714500"/>
            <a:ext cx="5953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  →   TERMINAL   →   BROWSER   →   FILES   →   SETTINGS</a:t>
            </a:r>
            <a:endParaRPr lang="en-US" sz="49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2143125"/>
            <a:ext cx="2066925" cy="10477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19375" y="2143125"/>
            <a:ext cx="2066925" cy="107632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62500" y="2143125"/>
            <a:ext cx="2066925" cy="10477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05625" y="1952625"/>
            <a:ext cx="1762125" cy="2095500"/>
          </a:xfrm>
          <a:prstGeom prst="roundRect">
            <a:avLst>
              <a:gd name="adj" fmla="val 16605"/>
            </a:avLst>
          </a:prstGeom>
          <a:solidFill>
            <a:srgbClr val="3A98D8"/>
          </a:solidFill>
          <a:ln/>
        </p:spPr>
      </p:sp>
      <p:sp>
        <p:nvSpPr>
          <p:cNvPr id="9" name="Text 4"/>
          <p:cNvSpPr/>
          <p:nvPr/>
        </p:nvSpPr>
        <p:spPr>
          <a:xfrm>
            <a:off x="7058025" y="2124075"/>
            <a:ext cx="14573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420" b="1" spc="-71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30–60</a:t>
            </a:r>
            <a:endParaRPr lang="en-US" sz="3420" dirty="0"/>
          </a:p>
        </p:txBody>
      </p:sp>
      <p:sp>
        <p:nvSpPr>
          <p:cNvPr id="10" name="Text 5"/>
          <p:cNvSpPr/>
          <p:nvPr/>
        </p:nvSpPr>
        <p:spPr>
          <a:xfrm>
            <a:off x="7058025" y="2695575"/>
            <a:ext cx="1457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минут в день</a:t>
            </a:r>
            <a:endParaRPr lang="en-US" sz="641" dirty="0"/>
          </a:p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может занимать повторяющаяся</a:t>
            </a:r>
            <a:endParaRPr lang="en-US" sz="641" dirty="0"/>
          </a:p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компьютерная рутина</a:t>
            </a:r>
            <a:endParaRPr lang="en-US" sz="641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58025" y="3181350"/>
            <a:ext cx="1004887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76225"/>
            <a:ext cx="2381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6C4BE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РЕШЕНИЕ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476250" y="523875"/>
            <a:ext cx="738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Просто скажите, что нужно сделать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76250" y="976312"/>
            <a:ext cx="7381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«Пятница» понимает естественный язык и превращает команду пользователя в действие.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476250" y="1476375"/>
            <a:ext cx="8191500" cy="561975"/>
          </a:xfrm>
          <a:prstGeom prst="roundRect">
            <a:avLst>
              <a:gd name="adj" fmla="val 39051"/>
            </a:avLst>
          </a:prstGeom>
          <a:solidFill>
            <a:srgbClr val="3A98D8"/>
          </a:solidFill>
          <a:ln/>
        </p:spPr>
      </p:sp>
      <p:sp>
        <p:nvSpPr>
          <p:cNvPr id="6" name="Text 4"/>
          <p:cNvSpPr/>
          <p:nvPr/>
        </p:nvSpPr>
        <p:spPr>
          <a:xfrm>
            <a:off x="2952750" y="1690688"/>
            <a:ext cx="3238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   →   ГОЛОС / ТЕКСТ   →   AI   →   WINDOWS   →   РЕЗУЛЬТАТ</a:t>
            </a:r>
            <a:endParaRPr lang="en-US" sz="641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2381250"/>
            <a:ext cx="2066925" cy="78105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19375" y="2381250"/>
            <a:ext cx="2066925" cy="94297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62500" y="2381250"/>
            <a:ext cx="2066925" cy="942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547813" y="3619500"/>
            <a:ext cx="2066925" cy="94297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90937" y="3619500"/>
            <a:ext cx="2066925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76225"/>
            <a:ext cx="2381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6C4BE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ПРОДУКТ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381000" y="523875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Уже работающий alpha-MVP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381000" y="976312"/>
            <a:ext cx="6905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Главное — показать, что продукт уже выполняет реальные действия в Windows.</a:t>
            </a:r>
            <a:endParaRPr lang="en-US" sz="85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0500" y="447675"/>
            <a:ext cx="590550" cy="171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1000" y="1619250"/>
            <a:ext cx="2476500" cy="3095625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4524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8163" y="1776413"/>
            <a:ext cx="1047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Computer Use</a:t>
            </a:r>
            <a:endParaRPr lang="en-US" sz="926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8163" y="2024062"/>
            <a:ext cx="2066925" cy="10763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38163" y="3071813"/>
            <a:ext cx="2171700" cy="1047750"/>
          </a:xfrm>
          <a:prstGeom prst="roundRect">
            <a:avLst>
              <a:gd name="adj" fmla="val 17455"/>
            </a:avLst>
          </a:prstGeom>
          <a:solidFill>
            <a:srgbClr val="F6F7F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66838" y="3476625"/>
            <a:ext cx="628650" cy="3524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333750" y="1619250"/>
            <a:ext cx="2476500" cy="3095625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4524">
            <a:solidFill>
              <a:srgbClr val="E5E7E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490913" y="1776413"/>
            <a:ext cx="15906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Несколько устройств</a:t>
            </a:r>
            <a:endParaRPr lang="en-US" sz="926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90913" y="2024062"/>
            <a:ext cx="2066925" cy="78105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90913" y="2776538"/>
            <a:ext cx="2066925" cy="7810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490913" y="3529013"/>
            <a:ext cx="2171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6C4BE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«Закрой Chrome на компьютере Офис»</a:t>
            </a:r>
            <a:endParaRPr lang="en-US" sz="641" dirty="0"/>
          </a:p>
        </p:txBody>
      </p:sp>
      <p:sp>
        <p:nvSpPr>
          <p:cNvPr id="16" name="Shape 9"/>
          <p:cNvSpPr/>
          <p:nvPr/>
        </p:nvSpPr>
        <p:spPr>
          <a:xfrm>
            <a:off x="6286500" y="1619250"/>
            <a:ext cx="2476500" cy="3095625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4524">
            <a:solidFill>
              <a:srgbClr val="E5E7E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443663" y="1776413"/>
            <a:ext cx="1347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Голосовой режим</a:t>
            </a:r>
            <a:endParaRPr lang="en-US" sz="926" dirty="0"/>
          </a:p>
        </p:txBody>
      </p:sp>
      <p:sp>
        <p:nvSpPr>
          <p:cNvPr id="18" name="Shape 11"/>
          <p:cNvSpPr/>
          <p:nvPr/>
        </p:nvSpPr>
        <p:spPr>
          <a:xfrm>
            <a:off x="6443663" y="2024062"/>
            <a:ext cx="2171700" cy="857250"/>
          </a:xfrm>
          <a:prstGeom prst="roundRect">
            <a:avLst>
              <a:gd name="adj" fmla="val 25600"/>
            </a:avLst>
          </a:prstGeom>
          <a:solidFill>
            <a:srgbClr val="3A98D8"/>
          </a:solidFill>
          <a:ln/>
        </p:spPr>
      </p:sp>
      <p:sp>
        <p:nvSpPr>
          <p:cNvPr id="19" name="Text 12"/>
          <p:cNvSpPr/>
          <p:nvPr/>
        </p:nvSpPr>
        <p:spPr>
          <a:xfrm>
            <a:off x="5928122" y="2109788"/>
            <a:ext cx="32027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▂ ▄ ▆ █ ▆ ▄ ▂   ▃ ▅ ▇ ▅ ▃</a:t>
            </a:r>
            <a:endParaRPr lang="en-US" sz="2138" dirty="0"/>
          </a:p>
        </p:txBody>
      </p:sp>
      <p:sp>
        <p:nvSpPr>
          <p:cNvPr id="20" name="Text 13"/>
          <p:cNvSpPr/>
          <p:nvPr/>
        </p:nvSpPr>
        <p:spPr>
          <a:xfrm>
            <a:off x="6443663" y="2967038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Микрофон → транскрипция → AI → голосовой ответ</a:t>
            </a:r>
            <a:endParaRPr lang="en-US" sz="641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43663" y="3319463"/>
            <a:ext cx="938213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76225"/>
            <a:ext cx="33337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6C4BE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ЦЕЛЕВАЯ АУДИТОРИЯ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381000" y="523875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Начинаем с тех, кому автоматизация нужна каждый день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381000" y="1343025"/>
            <a:ext cx="78581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Разработчики и DevOps уже живут между IDE, терминалом, Git, Docker и десятками окон.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2762250" y="1714500"/>
            <a:ext cx="3619500" cy="1714500"/>
          </a:xfrm>
          <a:prstGeom prst="roundRect">
            <a:avLst>
              <a:gd name="adj" fmla="val 17067"/>
            </a:avLst>
          </a:prstGeom>
          <a:solidFill>
            <a:srgbClr val="3A98D8"/>
          </a:solidFill>
          <a:ln/>
        </p:spPr>
      </p:sp>
      <p:sp>
        <p:nvSpPr>
          <p:cNvPr id="6" name="Text 4"/>
          <p:cNvSpPr/>
          <p:nvPr/>
        </p:nvSpPr>
        <p:spPr>
          <a:xfrm>
            <a:off x="3614738" y="2290763"/>
            <a:ext cx="1914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Developers &amp; DevOps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3048000" y="2586038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 программ · частые переключения · привычка к автоматизации · готовность тестировать новые технологии</a:t>
            </a:r>
            <a:endParaRPr lang="en-US" sz="641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1905000"/>
            <a:ext cx="2066925" cy="107632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10375" y="1905000"/>
            <a:ext cx="2066925" cy="107632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28750" y="3762375"/>
            <a:ext cx="2066925" cy="123825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62625" y="3762375"/>
            <a:ext cx="206692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76225"/>
            <a:ext cx="2857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/ КОНКУРЕНТЫ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381000" y="523875"/>
            <a:ext cx="714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Сильные решения — по отдельности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381000" y="4429125"/>
            <a:ext cx="762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«Пятница» соединяет естественный язык, голос и действия в Windows.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81000" y="1309688"/>
            <a:ext cx="8429625" cy="2857500"/>
          </a:xfrm>
          <a:prstGeom prst="roundRect">
            <a:avLst>
              <a:gd name="adj" fmla="val 7680"/>
            </a:avLst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09688"/>
            <a:ext cx="1571625" cy="28575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7" name="Text 5"/>
          <p:cNvSpPr/>
          <p:nvPr/>
        </p:nvSpPr>
        <p:spPr>
          <a:xfrm>
            <a:off x="495300" y="1433513"/>
            <a:ext cx="1343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ВОЗМОЖНОСТЬ</a:t>
            </a:r>
            <a:endParaRPr lang="en-US" sz="499" dirty="0"/>
          </a:p>
        </p:txBody>
      </p:sp>
      <p:sp>
        <p:nvSpPr>
          <p:cNvPr id="8" name="Text 6"/>
          <p:cNvSpPr/>
          <p:nvPr/>
        </p:nvSpPr>
        <p:spPr>
          <a:xfrm>
            <a:off x="495300" y="1614488"/>
            <a:ext cx="134302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Естественный язык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Голос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Windows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Другой ПК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программирования</a:t>
            </a:r>
            <a:endParaRPr lang="en-US" sz="641" dirty="0"/>
          </a:p>
        </p:txBody>
      </p:sp>
      <p:sp>
        <p:nvSpPr>
          <p:cNvPr id="9" name="Shape 7"/>
          <p:cNvSpPr/>
          <p:nvPr/>
        </p:nvSpPr>
        <p:spPr>
          <a:xfrm>
            <a:off x="1962150" y="1309688"/>
            <a:ext cx="1362075" cy="2857500"/>
          </a:xfrm>
          <a:prstGeom prst="rect">
            <a:avLst/>
          </a:prstGeom>
          <a:solidFill>
            <a:srgbClr val="3A98D8"/>
          </a:solidFill>
          <a:ln/>
        </p:spPr>
      </p:sp>
      <p:sp>
        <p:nvSpPr>
          <p:cNvPr id="10" name="Text 8"/>
          <p:cNvSpPr/>
          <p:nvPr/>
        </p:nvSpPr>
        <p:spPr>
          <a:xfrm>
            <a:off x="2076450" y="1433513"/>
            <a:ext cx="1133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ПЯТНИЦА</a:t>
            </a:r>
            <a:endParaRPr lang="en-US" sz="499" dirty="0"/>
          </a:p>
        </p:txBody>
      </p:sp>
      <p:sp>
        <p:nvSpPr>
          <p:cNvPr id="11" name="Text 9"/>
          <p:cNvSpPr/>
          <p:nvPr/>
        </p:nvSpPr>
        <p:spPr>
          <a:xfrm>
            <a:off x="2076450" y="1614488"/>
            <a:ext cx="113347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</p:txBody>
      </p:sp>
      <p:sp>
        <p:nvSpPr>
          <p:cNvPr id="12" name="Shape 10"/>
          <p:cNvSpPr/>
          <p:nvPr/>
        </p:nvSpPr>
        <p:spPr>
          <a:xfrm>
            <a:off x="3333750" y="1309688"/>
            <a:ext cx="1362075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48050" y="1433513"/>
            <a:ext cx="1133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CHATGPT DESKTOP</a:t>
            </a:r>
            <a:endParaRPr lang="en-US" sz="499" dirty="0"/>
          </a:p>
        </p:txBody>
      </p:sp>
      <p:sp>
        <p:nvSpPr>
          <p:cNvPr id="14" name="Text 12"/>
          <p:cNvSpPr/>
          <p:nvPr/>
        </p:nvSpPr>
        <p:spPr>
          <a:xfrm>
            <a:off x="3448050" y="1614488"/>
            <a:ext cx="113347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Ограниченно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веб-среде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</p:txBody>
      </p:sp>
      <p:sp>
        <p:nvSpPr>
          <p:cNvPr id="15" name="Shape 13"/>
          <p:cNvSpPr/>
          <p:nvPr/>
        </p:nvSpPr>
        <p:spPr>
          <a:xfrm>
            <a:off x="4705350" y="1309688"/>
            <a:ext cx="1362075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19650" y="1433513"/>
            <a:ext cx="1133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VOICEATTACK</a:t>
            </a:r>
            <a:endParaRPr lang="en-US" sz="499" dirty="0"/>
          </a:p>
        </p:txBody>
      </p:sp>
      <p:sp>
        <p:nvSpPr>
          <p:cNvPr id="17" name="Text 15"/>
          <p:cNvSpPr/>
          <p:nvPr/>
        </p:nvSpPr>
        <p:spPr>
          <a:xfrm>
            <a:off x="4819650" y="1614488"/>
            <a:ext cx="113347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Команды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</p:txBody>
      </p:sp>
      <p:sp>
        <p:nvSpPr>
          <p:cNvPr id="18" name="Shape 16"/>
          <p:cNvSpPr/>
          <p:nvPr/>
        </p:nvSpPr>
        <p:spPr>
          <a:xfrm>
            <a:off x="6076950" y="1309688"/>
            <a:ext cx="1362075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91250" y="1433513"/>
            <a:ext cx="1133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AUTOHOTKEY</a:t>
            </a:r>
            <a:endParaRPr lang="en-US" sz="499" dirty="0"/>
          </a:p>
        </p:txBody>
      </p:sp>
      <p:sp>
        <p:nvSpPr>
          <p:cNvPr id="20" name="Text 18"/>
          <p:cNvSpPr/>
          <p:nvPr/>
        </p:nvSpPr>
        <p:spPr>
          <a:xfrm>
            <a:off x="6191250" y="1614488"/>
            <a:ext cx="113347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Скрипты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</a:t>
            </a:r>
            <a:endParaRPr lang="en-US" sz="641" dirty="0"/>
          </a:p>
        </p:txBody>
      </p:sp>
      <p:sp>
        <p:nvSpPr>
          <p:cNvPr id="21" name="Shape 19"/>
          <p:cNvSpPr/>
          <p:nvPr/>
        </p:nvSpPr>
        <p:spPr>
          <a:xfrm>
            <a:off x="7448550" y="1309688"/>
            <a:ext cx="1362075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62850" y="1433513"/>
            <a:ext cx="1133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AUTOMATE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7562850" y="1614488"/>
            <a:ext cx="113347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Частично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UI-автоматизация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</a:t>
            </a:r>
            <a:endParaRPr lang="en-US" sz="641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Low-code</a:t>
            </a:r>
            <a:endParaRPr lang="en-US" sz="64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76225"/>
            <a:ext cx="2857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/ БИЗНЕС-МОДЕЛЬ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381000" y="523875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Freemium — простой вход, понятный рост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381000" y="976312"/>
            <a:ext cx="714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Монетизация через Pro-подписку и разовую лицензию.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381000" y="1619250"/>
            <a:ext cx="2476500" cy="209550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781175"/>
            <a:ext cx="2095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</a:t>
            </a:r>
            <a:endParaRPr lang="en-US" sz="499" dirty="0"/>
          </a:p>
        </p:txBody>
      </p:sp>
      <p:sp>
        <p:nvSpPr>
          <p:cNvPr id="7" name="Text 5"/>
          <p:cNvSpPr/>
          <p:nvPr/>
        </p:nvSpPr>
        <p:spPr>
          <a:xfrm>
            <a:off x="552450" y="2190750"/>
            <a:ext cx="2095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420" b="1" spc="-71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₽</a:t>
            </a:r>
            <a:endParaRPr lang="en-US" sz="3420" dirty="0"/>
          </a:p>
        </p:txBody>
      </p:sp>
      <p:sp>
        <p:nvSpPr>
          <p:cNvPr id="8" name="Text 6"/>
          <p:cNvSpPr/>
          <p:nvPr/>
        </p:nvSpPr>
        <p:spPr>
          <a:xfrm>
            <a:off x="552450" y="2833688"/>
            <a:ext cx="2095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Базовые команды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компьютер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 без барьера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3333750" y="1619250"/>
            <a:ext cx="2476500" cy="2095500"/>
          </a:xfrm>
          <a:prstGeom prst="roundRect">
            <a:avLst>
              <a:gd name="adj" fmla="val 10473"/>
            </a:avLst>
          </a:prstGeom>
          <a:solidFill>
            <a:srgbClr val="3A98D8"/>
          </a:solidFill>
          <a:ln/>
        </p:spPr>
      </p:sp>
      <p:sp>
        <p:nvSpPr>
          <p:cNvPr id="10" name="Text 8"/>
          <p:cNvSpPr/>
          <p:nvPr/>
        </p:nvSpPr>
        <p:spPr>
          <a:xfrm>
            <a:off x="3505200" y="1781175"/>
            <a:ext cx="2095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</a:t>
            </a:r>
            <a:endParaRPr lang="en-US" sz="499" dirty="0"/>
          </a:p>
        </p:txBody>
      </p:sp>
      <p:sp>
        <p:nvSpPr>
          <p:cNvPr id="11" name="Text 9"/>
          <p:cNvSpPr/>
          <p:nvPr/>
        </p:nvSpPr>
        <p:spPr>
          <a:xfrm>
            <a:off x="3505200" y="2190750"/>
            <a:ext cx="2095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420" b="1" spc="-71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5–10 $</a:t>
            </a:r>
            <a:endParaRPr lang="en-US" sz="3420" dirty="0"/>
          </a:p>
        </p:txBody>
      </p:sp>
      <p:sp>
        <p:nvSpPr>
          <p:cNvPr id="12" name="Text 10"/>
          <p:cNvSpPr/>
          <p:nvPr/>
        </p:nvSpPr>
        <p:spPr>
          <a:xfrm>
            <a:off x="3505200" y="2833688"/>
            <a:ext cx="2095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месяц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Расширенные сценарии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устройств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Приоритетные функции</a:t>
            </a:r>
            <a:endParaRPr lang="en-US" sz="855" dirty="0"/>
          </a:p>
        </p:txBody>
      </p:sp>
      <p:sp>
        <p:nvSpPr>
          <p:cNvPr id="13" name="Shape 11"/>
          <p:cNvSpPr/>
          <p:nvPr/>
        </p:nvSpPr>
        <p:spPr>
          <a:xfrm>
            <a:off x="6286500" y="1619250"/>
            <a:ext cx="2476500" cy="209550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7950" y="1781175"/>
            <a:ext cx="2095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LIFETIME</a:t>
            </a:r>
            <a:endParaRPr lang="en-US" sz="499" dirty="0"/>
          </a:p>
        </p:txBody>
      </p:sp>
      <p:sp>
        <p:nvSpPr>
          <p:cNvPr id="15" name="Text 13"/>
          <p:cNvSpPr/>
          <p:nvPr/>
        </p:nvSpPr>
        <p:spPr>
          <a:xfrm>
            <a:off x="6457950" y="2190750"/>
            <a:ext cx="2095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420" b="1" spc="-71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50–100 $</a:t>
            </a:r>
            <a:endParaRPr lang="en-US" sz="3420" dirty="0"/>
          </a:p>
        </p:txBody>
      </p:sp>
      <p:sp>
        <p:nvSpPr>
          <p:cNvPr id="16" name="Text 14"/>
          <p:cNvSpPr/>
          <p:nvPr/>
        </p:nvSpPr>
        <p:spPr>
          <a:xfrm>
            <a:off x="6457950" y="2833688"/>
            <a:ext cx="2095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Разовая лицензия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Долгий доступ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первых сторонников</a:t>
            </a:r>
            <a:endParaRPr lang="en-US" sz="855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4095750"/>
            <a:ext cx="800100" cy="1714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857750" y="3976687"/>
            <a:ext cx="3905250" cy="690563"/>
          </a:xfrm>
          <a:prstGeom prst="roundRect">
            <a:avLst>
              <a:gd name="adj" fmla="val 31779"/>
            </a:avLst>
          </a:prstGeom>
          <a:solidFill>
            <a:srgbClr val="F6F7FB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10150" y="4110038"/>
            <a:ext cx="3524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 — следующий горизонт</a:t>
            </a:r>
            <a:endParaRPr lang="en-US" sz="926" dirty="0"/>
          </a:p>
        </p:txBody>
      </p:sp>
      <p:sp>
        <p:nvSpPr>
          <p:cNvPr id="20" name="Text 17"/>
          <p:cNvSpPr/>
          <p:nvPr/>
        </p:nvSpPr>
        <p:spPr>
          <a:xfrm>
            <a:off x="5010150" y="4348163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Командные сценарии, централизованное управление и корпоративная безопасность.</a:t>
            </a:r>
            <a:endParaRPr lang="en-US" sz="64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76225"/>
            <a:ext cx="38100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/ ТЕКУЩИЙ ЭТАП И РАЗВИТИЕ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381000" y="523875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alpha-MVP — к масштабированию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381000" y="976312"/>
            <a:ext cx="714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Движемся по этапам: сначала надёжность, затем расширение и рост.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952500" y="1857375"/>
            <a:ext cx="7239000" cy="28575"/>
          </a:xfrm>
          <a:prstGeom prst="round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1666875"/>
            <a:ext cx="409575" cy="409575"/>
          </a:xfrm>
          <a:prstGeom prst="ellipse">
            <a:avLst/>
          </a:prstGeom>
          <a:solidFill>
            <a:srgbClr val="3A98D8"/>
          </a:solidFill>
          <a:ln w="18097">
            <a:solidFill>
              <a:srgbClr val="3A9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0" y="2381250"/>
            <a:ext cx="1714500" cy="1809750"/>
          </a:xfrm>
          <a:prstGeom prst="roundRect">
            <a:avLst>
              <a:gd name="adj" fmla="val 12800"/>
            </a:avLst>
          </a:prstGeom>
          <a:solidFill>
            <a:srgbClr val="3A98D8"/>
          </a:solidFill>
          <a:ln/>
        </p:spPr>
      </p:sp>
      <p:sp>
        <p:nvSpPr>
          <p:cNvPr id="8" name="Text 6"/>
          <p:cNvSpPr/>
          <p:nvPr/>
        </p:nvSpPr>
        <p:spPr>
          <a:xfrm>
            <a:off x="523875" y="2524125"/>
            <a:ext cx="1428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СЕЙЧАС</a:t>
            </a:r>
            <a:endParaRPr lang="en-US" sz="499" dirty="0"/>
          </a:p>
        </p:txBody>
      </p:sp>
      <p:sp>
        <p:nvSpPr>
          <p:cNvPr id="9" name="Text 7"/>
          <p:cNvSpPr/>
          <p:nvPr/>
        </p:nvSpPr>
        <p:spPr>
          <a:xfrm>
            <a:off x="523875" y="2819400"/>
            <a:ext cx="1428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Alpha-MVP</a:t>
            </a:r>
            <a:endParaRPr lang="en-US" sz="926" dirty="0"/>
          </a:p>
        </p:txBody>
      </p:sp>
      <p:sp>
        <p:nvSpPr>
          <p:cNvPr id="10" name="Text 8"/>
          <p:cNvSpPr/>
          <p:nvPr/>
        </p:nvSpPr>
        <p:spPr>
          <a:xfrm>
            <a:off x="523875" y="3286125"/>
            <a:ext cx="1428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Голос и текст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устройств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3143250" y="1666875"/>
            <a:ext cx="409575" cy="409575"/>
          </a:xfrm>
          <a:prstGeom prst="ellipse">
            <a:avLst/>
          </a:prstGeom>
          <a:solidFill>
            <a:srgbClr val="FFFFFF"/>
          </a:solidFill>
          <a:ln w="18097">
            <a:solidFill>
              <a:srgbClr val="755B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6500" y="2381250"/>
            <a:ext cx="1714500" cy="180975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9375" y="2524125"/>
            <a:ext cx="1428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ЭТАП 2</a:t>
            </a:r>
            <a:endParaRPr lang="en-US" sz="499" dirty="0"/>
          </a:p>
        </p:txBody>
      </p:sp>
      <p:sp>
        <p:nvSpPr>
          <p:cNvPr id="14" name="Text 12"/>
          <p:cNvSpPr/>
          <p:nvPr/>
        </p:nvSpPr>
        <p:spPr>
          <a:xfrm>
            <a:off x="2619375" y="2819400"/>
            <a:ext cx="1428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Стабилизация</a:t>
            </a:r>
            <a:endParaRPr lang="en-US" sz="926" dirty="0"/>
          </a:p>
        </p:txBody>
      </p:sp>
      <p:sp>
        <p:nvSpPr>
          <p:cNvPr id="15" name="Text 13"/>
          <p:cNvSpPr/>
          <p:nvPr/>
        </p:nvSpPr>
        <p:spPr>
          <a:xfrm>
            <a:off x="2619375" y="3286125"/>
            <a:ext cx="1428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Тесты и безопасность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Скорость команд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Успешность сценариев</a:t>
            </a:r>
            <a:endParaRPr lang="en-US" sz="855" dirty="0"/>
          </a:p>
        </p:txBody>
      </p:sp>
      <p:sp>
        <p:nvSpPr>
          <p:cNvPr id="16" name="Shape 14"/>
          <p:cNvSpPr/>
          <p:nvPr/>
        </p:nvSpPr>
        <p:spPr>
          <a:xfrm>
            <a:off x="5238750" y="1666875"/>
            <a:ext cx="409575" cy="409575"/>
          </a:xfrm>
          <a:prstGeom prst="ellipse">
            <a:avLst/>
          </a:prstGeom>
          <a:solidFill>
            <a:srgbClr val="FFFFFF"/>
          </a:solidFill>
          <a:ln w="18097">
            <a:solidFill>
              <a:srgbClr val="755B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381250"/>
            <a:ext cx="1714500" cy="180975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4875" y="2524125"/>
            <a:ext cx="1428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ЭТАП 3</a:t>
            </a:r>
            <a:endParaRPr lang="en-US" sz="499" dirty="0"/>
          </a:p>
        </p:txBody>
      </p:sp>
      <p:sp>
        <p:nvSpPr>
          <p:cNvPr id="19" name="Text 17"/>
          <p:cNvSpPr/>
          <p:nvPr/>
        </p:nvSpPr>
        <p:spPr>
          <a:xfrm>
            <a:off x="4714875" y="2819400"/>
            <a:ext cx="1428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Экосистема</a:t>
            </a:r>
            <a:endParaRPr lang="en-US" sz="926" dirty="0"/>
          </a:p>
        </p:txBody>
      </p:sp>
      <p:sp>
        <p:nvSpPr>
          <p:cNvPr id="20" name="Text 18"/>
          <p:cNvSpPr/>
          <p:nvPr/>
        </p:nvSpPr>
        <p:spPr>
          <a:xfrm>
            <a:off x="4714875" y="3286125"/>
            <a:ext cx="1428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Android-клиент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интеграции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Публичный запуск</a:t>
            </a:r>
            <a:endParaRPr lang="en-US" sz="855" dirty="0"/>
          </a:p>
        </p:txBody>
      </p:sp>
      <p:sp>
        <p:nvSpPr>
          <p:cNvPr id="21" name="Shape 19"/>
          <p:cNvSpPr/>
          <p:nvPr/>
        </p:nvSpPr>
        <p:spPr>
          <a:xfrm>
            <a:off x="7334250" y="1666875"/>
            <a:ext cx="409575" cy="409575"/>
          </a:xfrm>
          <a:prstGeom prst="ellipse">
            <a:avLst/>
          </a:prstGeom>
          <a:solidFill>
            <a:srgbClr val="FFFFFF"/>
          </a:solidFill>
          <a:ln w="18097">
            <a:solidFill>
              <a:srgbClr val="755B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67500" y="2381250"/>
            <a:ext cx="1714500" cy="180975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0375" y="2524125"/>
            <a:ext cx="1428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ЭТАП 4</a:t>
            </a:r>
            <a:endParaRPr lang="en-US" sz="499" dirty="0"/>
          </a:p>
        </p:txBody>
      </p:sp>
      <p:sp>
        <p:nvSpPr>
          <p:cNvPr id="24" name="Text 22"/>
          <p:cNvSpPr/>
          <p:nvPr/>
        </p:nvSpPr>
        <p:spPr>
          <a:xfrm>
            <a:off x="6810375" y="2819400"/>
            <a:ext cx="1428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Масштабирование</a:t>
            </a:r>
            <a:endParaRPr lang="en-US" sz="926" dirty="0"/>
          </a:p>
        </p:txBody>
      </p:sp>
      <p:sp>
        <p:nvSpPr>
          <p:cNvPr id="25" name="Text 23"/>
          <p:cNvSpPr/>
          <p:nvPr/>
        </p:nvSpPr>
        <p:spPr>
          <a:xfrm>
            <a:off x="6810375" y="3286125"/>
            <a:ext cx="1428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Pro-функции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B2B-сценарии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Партнёрства</a:t>
            </a:r>
            <a:endParaRPr lang="en-US" sz="855" dirty="0"/>
          </a:p>
        </p:txBody>
      </p:sp>
      <p:sp>
        <p:nvSpPr>
          <p:cNvPr id="26" name="Text 24"/>
          <p:cNvSpPr/>
          <p:nvPr/>
        </p:nvSpPr>
        <p:spPr>
          <a:xfrm>
            <a:off x="1047750" y="1752600"/>
            <a:ext cx="409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26" dirty="0"/>
          </a:p>
        </p:txBody>
      </p:sp>
      <p:sp>
        <p:nvSpPr>
          <p:cNvPr id="27" name="Text 25"/>
          <p:cNvSpPr/>
          <p:nvPr/>
        </p:nvSpPr>
        <p:spPr>
          <a:xfrm>
            <a:off x="3143250" y="1752600"/>
            <a:ext cx="409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26" dirty="0"/>
          </a:p>
        </p:txBody>
      </p:sp>
      <p:sp>
        <p:nvSpPr>
          <p:cNvPr id="28" name="Text 26"/>
          <p:cNvSpPr/>
          <p:nvPr/>
        </p:nvSpPr>
        <p:spPr>
          <a:xfrm>
            <a:off x="5238750" y="1752600"/>
            <a:ext cx="409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26" dirty="0"/>
          </a:p>
        </p:txBody>
      </p:sp>
      <p:sp>
        <p:nvSpPr>
          <p:cNvPr id="29" name="Text 27"/>
          <p:cNvSpPr/>
          <p:nvPr/>
        </p:nvSpPr>
        <p:spPr>
          <a:xfrm>
            <a:off x="7334250" y="1752600"/>
            <a:ext cx="409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26" dirty="0"/>
          </a:p>
        </p:txBody>
      </p:sp>
      <p:sp>
        <p:nvSpPr>
          <p:cNvPr id="30" name="Text 28"/>
          <p:cNvSpPr/>
          <p:nvPr/>
        </p:nvSpPr>
        <p:spPr>
          <a:xfrm>
            <a:off x="381000" y="4548188"/>
            <a:ext cx="79057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искусственных дат: переход к следующему этапу — после подтверждения качества предыдущего.</a:t>
            </a:r>
            <a:endParaRPr lang="en-US" sz="49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76225"/>
            <a:ext cx="2857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/ КОМАНДА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381000" y="523875"/>
            <a:ext cx="785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Пять направлений — один продукт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381000" y="976312"/>
            <a:ext cx="7381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закрывает AI, desktop, mobile, backend и системный анализ.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2476500" cy="1166813"/>
          </a:xfrm>
          <a:prstGeom prst="roundRect">
            <a:avLst>
              <a:gd name="adj" fmla="val 18808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3875" y="1666875"/>
            <a:ext cx="342900" cy="342900"/>
          </a:xfrm>
          <a:prstGeom prst="ellipse">
            <a:avLst/>
          </a:prstGeom>
          <a:solidFill>
            <a:srgbClr val="3A98D8"/>
          </a:solidFill>
          <a:ln/>
        </p:spPr>
      </p:sp>
      <p:sp>
        <p:nvSpPr>
          <p:cNvPr id="7" name="Text 5"/>
          <p:cNvSpPr/>
          <p:nvPr/>
        </p:nvSpPr>
        <p:spPr>
          <a:xfrm>
            <a:off x="523875" y="17430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ЦК</a:t>
            </a:r>
            <a:endParaRPr lang="en-US" sz="926" dirty="0"/>
          </a:p>
        </p:txBody>
      </p:sp>
      <p:sp>
        <p:nvSpPr>
          <p:cNvPr id="8" name="Text 6"/>
          <p:cNvSpPr/>
          <p:nvPr/>
        </p:nvSpPr>
        <p:spPr>
          <a:xfrm>
            <a:off x="1009650" y="1695450"/>
            <a:ext cx="161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Цыганов К.</a:t>
            </a:r>
            <a:endParaRPr lang="en-US" sz="926" dirty="0"/>
          </a:p>
        </p:txBody>
      </p:sp>
      <p:sp>
        <p:nvSpPr>
          <p:cNvPr id="9" name="Text 7"/>
          <p:cNvSpPr/>
          <p:nvPr/>
        </p:nvSpPr>
        <p:spPr>
          <a:xfrm>
            <a:off x="1009650" y="205740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LLM-архитектура</a:t>
            </a:r>
            <a:endParaRPr lang="en-US" sz="641" dirty="0"/>
          </a:p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робототехника</a:t>
            </a:r>
            <a:endParaRPr lang="en-US" sz="641" dirty="0"/>
          </a:p>
        </p:txBody>
      </p:sp>
      <p:sp>
        <p:nvSpPr>
          <p:cNvPr id="10" name="Shape 8"/>
          <p:cNvSpPr/>
          <p:nvPr/>
        </p:nvSpPr>
        <p:spPr>
          <a:xfrm>
            <a:off x="3333750" y="1524000"/>
            <a:ext cx="2476500" cy="1166813"/>
          </a:xfrm>
          <a:prstGeom prst="roundRect">
            <a:avLst>
              <a:gd name="adj" fmla="val 18808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6625" y="1666875"/>
            <a:ext cx="342900" cy="342900"/>
          </a:xfrm>
          <a:prstGeom prst="ellipse">
            <a:avLst/>
          </a:prstGeom>
          <a:solidFill>
            <a:srgbClr val="755BC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6625" y="17430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</a:t>
            </a:r>
            <a:endParaRPr lang="en-US" sz="926" dirty="0"/>
          </a:p>
        </p:txBody>
      </p:sp>
      <p:sp>
        <p:nvSpPr>
          <p:cNvPr id="13" name="Text 11"/>
          <p:cNvSpPr/>
          <p:nvPr/>
        </p:nvSpPr>
        <p:spPr>
          <a:xfrm>
            <a:off x="3962400" y="1695450"/>
            <a:ext cx="161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Солодкин М.</a:t>
            </a:r>
            <a:endParaRPr lang="en-US" sz="926" dirty="0"/>
          </a:p>
        </p:txBody>
      </p:sp>
      <p:sp>
        <p:nvSpPr>
          <p:cNvPr id="14" name="Text 12"/>
          <p:cNvSpPr/>
          <p:nvPr/>
        </p:nvSpPr>
        <p:spPr>
          <a:xfrm>
            <a:off x="3962400" y="205740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 desktop-клиент</a:t>
            </a:r>
            <a:endParaRPr lang="en-US" sz="641" dirty="0"/>
          </a:p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управление Windows</a:t>
            </a:r>
            <a:endParaRPr lang="en-US" sz="641" dirty="0"/>
          </a:p>
        </p:txBody>
      </p:sp>
      <p:sp>
        <p:nvSpPr>
          <p:cNvPr id="15" name="Shape 13"/>
          <p:cNvSpPr/>
          <p:nvPr/>
        </p:nvSpPr>
        <p:spPr>
          <a:xfrm>
            <a:off x="6286500" y="1524000"/>
            <a:ext cx="2476500" cy="1166813"/>
          </a:xfrm>
          <a:prstGeom prst="roundRect">
            <a:avLst>
              <a:gd name="adj" fmla="val 18808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9375" y="1666875"/>
            <a:ext cx="342900" cy="342900"/>
          </a:xfrm>
          <a:prstGeom prst="ellipse">
            <a:avLst/>
          </a:prstGeom>
          <a:solidFill>
            <a:srgbClr val="3A98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29375" y="1743075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</a:t>
            </a:r>
            <a:endParaRPr lang="en-US" sz="926" dirty="0"/>
          </a:p>
        </p:txBody>
      </p:sp>
      <p:sp>
        <p:nvSpPr>
          <p:cNvPr id="18" name="Text 16"/>
          <p:cNvSpPr/>
          <p:nvPr/>
        </p:nvSpPr>
        <p:spPr>
          <a:xfrm>
            <a:off x="6915150" y="1695450"/>
            <a:ext cx="161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Валиев А.</a:t>
            </a:r>
            <a:endParaRPr lang="en-US" sz="926" dirty="0"/>
          </a:p>
        </p:txBody>
      </p:sp>
      <p:sp>
        <p:nvSpPr>
          <p:cNvPr id="19" name="Text 17"/>
          <p:cNvSpPr/>
          <p:nvPr/>
        </p:nvSpPr>
        <p:spPr>
          <a:xfrm>
            <a:off x="6915150" y="205740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Android-разработка</a:t>
            </a:r>
            <a:endParaRPr lang="en-US" sz="641" dirty="0"/>
          </a:p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Java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1857375" y="3119438"/>
            <a:ext cx="2476500" cy="1166813"/>
          </a:xfrm>
          <a:prstGeom prst="roundRect">
            <a:avLst>
              <a:gd name="adj" fmla="val 18808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0250" y="3262313"/>
            <a:ext cx="342900" cy="342900"/>
          </a:xfrm>
          <a:prstGeom prst="ellipse">
            <a:avLst/>
          </a:prstGeom>
          <a:solidFill>
            <a:srgbClr val="755BC8"/>
          </a:solidFill>
          <a:ln/>
        </p:spPr>
      </p:sp>
      <p:sp>
        <p:nvSpPr>
          <p:cNvPr id="22" name="Text 20"/>
          <p:cNvSpPr/>
          <p:nvPr/>
        </p:nvSpPr>
        <p:spPr>
          <a:xfrm>
            <a:off x="2000250" y="3338513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ЛВ</a:t>
            </a:r>
            <a:endParaRPr lang="en-US" sz="926" dirty="0"/>
          </a:p>
        </p:txBody>
      </p:sp>
      <p:sp>
        <p:nvSpPr>
          <p:cNvPr id="23" name="Text 21"/>
          <p:cNvSpPr/>
          <p:nvPr/>
        </p:nvSpPr>
        <p:spPr>
          <a:xfrm>
            <a:off x="2486025" y="3290888"/>
            <a:ext cx="161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Лемешев В.</a:t>
            </a:r>
            <a:endParaRPr lang="en-US" sz="926" dirty="0"/>
          </a:p>
        </p:txBody>
      </p:sp>
      <p:sp>
        <p:nvSpPr>
          <p:cNvPr id="24" name="Text 22"/>
          <p:cNvSpPr/>
          <p:nvPr/>
        </p:nvSpPr>
        <p:spPr>
          <a:xfrm>
            <a:off x="2486025" y="3652838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Web, backend</a:t>
            </a:r>
            <a:endParaRPr lang="en-US" sz="641" dirty="0"/>
          </a:p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API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4810125" y="3119438"/>
            <a:ext cx="2476500" cy="1166813"/>
          </a:xfrm>
          <a:prstGeom prst="roundRect">
            <a:avLst>
              <a:gd name="adj" fmla="val 18808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3000" y="3262313"/>
            <a:ext cx="342900" cy="342900"/>
          </a:xfrm>
          <a:prstGeom prst="ellipse">
            <a:avLst/>
          </a:prstGeom>
          <a:solidFill>
            <a:srgbClr val="3A98D8"/>
          </a:solidFill>
          <a:ln/>
        </p:spPr>
      </p:sp>
      <p:sp>
        <p:nvSpPr>
          <p:cNvPr id="27" name="Text 25"/>
          <p:cNvSpPr/>
          <p:nvPr/>
        </p:nvSpPr>
        <p:spPr>
          <a:xfrm>
            <a:off x="4953000" y="3338513"/>
            <a:ext cx="342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ПВ</a:t>
            </a:r>
            <a:endParaRPr lang="en-US" sz="926" dirty="0"/>
          </a:p>
        </p:txBody>
      </p:sp>
      <p:sp>
        <p:nvSpPr>
          <p:cNvPr id="28" name="Text 26"/>
          <p:cNvSpPr/>
          <p:nvPr/>
        </p:nvSpPr>
        <p:spPr>
          <a:xfrm>
            <a:off x="5438775" y="3290888"/>
            <a:ext cx="161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Пушкин В.</a:t>
            </a:r>
            <a:endParaRPr lang="en-US" sz="926" dirty="0"/>
          </a:p>
        </p:txBody>
      </p:sp>
      <p:sp>
        <p:nvSpPr>
          <p:cNvPr id="29" name="Text 27"/>
          <p:cNvSpPr/>
          <p:nvPr/>
        </p:nvSpPr>
        <p:spPr>
          <a:xfrm>
            <a:off x="5438775" y="3652838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Системный и бизнес-анализ</a:t>
            </a:r>
            <a:endParaRPr lang="en-US" sz="641" dirty="0"/>
          </a:p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Базы данных</a:t>
            </a:r>
            <a:endParaRPr lang="en-US" sz="641" dirty="0"/>
          </a:p>
        </p:txBody>
      </p:sp>
      <p:sp>
        <p:nvSpPr>
          <p:cNvPr id="30" name="Text 28"/>
          <p:cNvSpPr/>
          <p:nvPr/>
        </p:nvSpPr>
        <p:spPr>
          <a:xfrm>
            <a:off x="381000" y="4619625"/>
            <a:ext cx="83820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+ Windows + Android + Web/Backend + аналитика данных</a:t>
            </a:r>
            <a:endParaRPr lang="en-US" sz="49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9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9750" y="-1143000"/>
            <a:ext cx="4762500" cy="476250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28625" y="333375"/>
            <a:ext cx="2857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ИНВЕСТИЦИИ</a:t>
            </a:r>
            <a:endParaRPr lang="en-US" sz="499" dirty="0"/>
          </a:p>
        </p:txBody>
      </p:sp>
      <p:sp>
        <p:nvSpPr>
          <p:cNvPr id="4" name="Text 2"/>
          <p:cNvSpPr/>
          <p:nvPr/>
        </p:nvSpPr>
        <p:spPr>
          <a:xfrm>
            <a:off x="428625" y="619125"/>
            <a:ext cx="619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 на инфраструктуру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428625" y="1500188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135" b="1" spc="-53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20 000 ₽</a:t>
            </a:r>
            <a:endParaRPr lang="en-US" sz="3135" dirty="0"/>
          </a:p>
        </p:txBody>
      </p:sp>
      <p:sp>
        <p:nvSpPr>
          <p:cNvPr id="6" name="Text 4"/>
          <p:cNvSpPr/>
          <p:nvPr/>
        </p:nvSpPr>
        <p:spPr>
          <a:xfrm>
            <a:off x="452438" y="2405063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2 года серверной инфраструктуры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428625" y="3000375"/>
            <a:ext cx="4048125" cy="714375"/>
          </a:xfrm>
          <a:prstGeom prst="roundRect">
            <a:avLst>
              <a:gd name="adj" fmla="val 30720"/>
            </a:avLst>
          </a:prstGeom>
          <a:solidFill>
            <a:srgbClr val="FFFFFF">
              <a:alpha val="14000"/>
            </a:srgbClr>
          </a:solidFill>
          <a:ln w="9049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3228975"/>
            <a:ext cx="3714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20 000 ₽ ÷ 24 месяца ≈ 833 ₽ / мес.</a:t>
            </a:r>
            <a:endParaRPr lang="en-US" sz="926" dirty="0"/>
          </a:p>
        </p:txBody>
      </p:sp>
      <p:sp>
        <p:nvSpPr>
          <p:cNvPr id="9" name="Shape 7"/>
          <p:cNvSpPr/>
          <p:nvPr/>
        </p:nvSpPr>
        <p:spPr>
          <a:xfrm>
            <a:off x="5334000" y="1071563"/>
            <a:ext cx="3333750" cy="2857500"/>
          </a:xfrm>
          <a:prstGeom prst="roundRect">
            <a:avLst>
              <a:gd name="adj" fmla="val 10240"/>
            </a:avLst>
          </a:prstGeom>
          <a:solidFill>
            <a:srgbClr val="FFFFFF">
              <a:alpha val="9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43550" y="1281113"/>
            <a:ext cx="2905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что пойдут средства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5543550" y="1762125"/>
            <a:ext cx="29051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и API</a:t>
            </a:r>
            <a:endParaRPr lang="en-US" sz="855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Маршрутизация между устройствами</a:t>
            </a:r>
            <a:endParaRPr lang="en-US" sz="855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Хранение конфигураций</a:t>
            </a:r>
            <a:endParaRPr lang="en-US" sz="855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и наблюдаемость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5543550" y="3500438"/>
            <a:ext cx="2905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Только серверная инфраструктура</a:t>
            </a:r>
            <a:endParaRPr lang="en-US" sz="499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8625" y="4214813"/>
            <a:ext cx="1524000" cy="6286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53250" y="4381500"/>
            <a:ext cx="1714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Спасибо за внимание</a:t>
            </a:r>
            <a:endParaRPr lang="en-US" sz="9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2026-09-23T18:10:18Z</dcterms:created>
  <dcterms:modified xsi:type="dcterms:W3CDTF">2026-09-23T18:10:18Z</dcterms:modified>
</cp:coreProperties>
</file>