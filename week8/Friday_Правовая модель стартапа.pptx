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ptos"/>
          <a:ea typeface="Aptos"/>
          <a:cs typeface="Apto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ptos"/>
          <a:ea typeface="Aptos"/>
          <a:cs typeface="Apto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a:ea typeface="Aptos"/>
          <a:cs typeface="Apto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a:ea typeface="Aptos"/>
          <a:cs typeface="Apto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2" name="Shape 62"/>
          <p:cNvSpPr/>
          <p:nvPr>
            <p:ph type="sldImg"/>
          </p:nvPr>
        </p:nvSpPr>
        <p:spPr>
          <a:xfrm>
            <a:off x="1143000" y="685800"/>
            <a:ext cx="4572000" cy="3429000"/>
          </a:xfrm>
          <a:prstGeom prst="rect">
            <a:avLst/>
          </a:prstGeom>
        </p:spPr>
        <p:txBody>
          <a:bodyPr/>
          <a:lstStyle/>
          <a:p>
            <a:pPr/>
          </a:p>
        </p:txBody>
      </p:sp>
      <p:sp>
        <p:nvSpPr>
          <p:cNvPr id="63" name="Shape 6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 name="Shape 70"/>
          <p:cNvSpPr/>
          <p:nvPr>
            <p:ph type="sldImg"/>
          </p:nvPr>
        </p:nvSpPr>
        <p:spPr>
          <a:prstGeom prst="rect">
            <a:avLst/>
          </a:prstGeom>
        </p:spPr>
        <p:txBody>
          <a:bodyPr/>
          <a:lstStyle/>
          <a:p>
            <a:pPr/>
          </a:p>
        </p:txBody>
      </p:sp>
      <p:sp>
        <p:nvSpPr>
          <p:cNvPr id="71" name="Shape 71"/>
          <p:cNvSpPr/>
          <p:nvPr>
            <p:ph type="body" sz="quarter" idx="1"/>
          </p:nvPr>
        </p:nvSpPr>
        <p:spPr>
          <a:prstGeom prst="rect">
            <a:avLst/>
          </a:prstGeom>
        </p:spPr>
        <p:txBody>
          <a:bodyPr/>
          <a:lstStyle/>
          <a:p>
            <a:pPr/>
            <a:r>
              <a:t>Учебная правовая модель проекта Friday. Регистрация ООО, доли и договорные условия ниже предложены для обсуждения, а не описывают уже оформленные отношения. Материалы: «Практическое занятие №15.docx», «Презентация проекта Friday(1).pptx», «питч-дек.pptx». Правовые нормы проверены 28.10.2026.</a:t>
            </a:r>
          </a:p>
          <a:p>
            <a:pPr/>
          </a:p>
          <a:p>
            <a:pPr/>
            <a:r>
              <a:t>Источники: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 name="Shape 79"/>
          <p:cNvSpPr/>
          <p:nvPr>
            <p:ph type="sldImg"/>
          </p:nvPr>
        </p:nvSpPr>
        <p:spPr>
          <a:prstGeom prst="rect">
            <a:avLst/>
          </a:prstGeom>
        </p:spPr>
        <p:txBody>
          <a:bodyPr/>
          <a:lstStyle/>
          <a:p>
            <a:pPr/>
          </a:p>
        </p:txBody>
      </p:sp>
      <p:sp>
        <p:nvSpPr>
          <p:cNvPr id="80" name="Shape 80"/>
          <p:cNvSpPr/>
          <p:nvPr>
            <p:ph type="body" sz="quarter" idx="1"/>
          </p:nvPr>
        </p:nvSpPr>
        <p:spPr>
          <a:prstGeom prst="rect">
            <a:avLst/>
          </a:prstGeom>
        </p:spPr>
        <p:txBody>
          <a:bodyPr/>
          <a:lstStyle/>
          <a:p>
            <a:pPr/>
            <a:r>
              <a:t>Предлагается создать ООО в России. Уставный капитал 10 000 рублей оплачивается денежными средствами, срок оплаты не позднее четырёх месяцев с регистрации. ООО отвечает своим имуществом. Участники обычно рискуют стоимостью долей, однако закон предусматривает исключения, в том числе ответственность контролирующих лиц. ИП может нанимать команду, но не позволяет оформить доли сооснователей в самом ИП.</a:t>
            </a:r>
          </a:p>
          <a:p>
            <a:pPr/>
          </a:p>
          <a:p>
            <a:pPr/>
            <a:r>
              <a:t>Источники: https://service.nalog.ru/gosreg/i/intro.html?sfrd=11001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Shape 87"/>
          <p:cNvSpPr/>
          <p:nvPr>
            <p:ph type="sldImg"/>
          </p:nvPr>
        </p:nvSpPr>
        <p:spPr>
          <a:prstGeom prst="rect">
            <a:avLst/>
          </a:prstGeom>
        </p:spPr>
        <p:txBody>
          <a:bodyPr/>
          <a:lstStyle/>
          <a:p>
            <a:pPr/>
          </a:p>
        </p:txBody>
      </p:sp>
      <p:sp>
        <p:nvSpPr>
          <p:cNvPr id="88" name="Shape 88"/>
          <p:cNvSpPr/>
          <p:nvPr>
            <p:ph type="body" sz="quarter" idx="1"/>
          </p:nvPr>
        </p:nvSpPr>
        <p:spPr>
          <a:prstGeom prst="rect">
            <a:avLst/>
          </a:prstGeom>
        </p:spPr>
        <p:txBody>
          <a:bodyPr/>
          <a:lstStyle/>
          <a:p>
            <a:pPr/>
            <a:r>
              <a:t>Роли взяты из питч-дека. Доли 20% и взносы по 2 000 рублей являются учебным предложением. Директора участники выбирают отдельно. Компетенцию органов закрепляют в уставе с учётом закона, а корпоративный договор регулирует реализацию участниками их прав. Нельзя произвольно заменять законные пороги голосования правилом «три из пяти» для любых решений.</a:t>
            </a:r>
          </a:p>
          <a:p>
            <a:pPr/>
          </a:p>
          <a:p>
            <a:pPr/>
            <a:r>
              <a:t>Источники: https://service.nalog.ru/gosreg/i/intro.html?sfrd=11001</a:t>
            </a:r>
          </a:p>
          <a:p>
            <a:pPr/>
            <a:r>
              <a:t>https://www.consultant.ru/document/cons_doc_LAW_5142/58e646d7b16793e74c6dd3b9e5a85e27a1b383ed/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Код охраняется как программа для ЭВМ. Исключительное право и личные неимущественные права различаются: авторство не передаётся компании. До оформления прав нельзя считать, что весь код уже принадлежит ООО. Для режима коммерческой тайны одного NDA недостаточно: нужны предусмотренные законом организационные меры. Товарный знак пока предлагается зарегистрировать, наличие регистрации в исходниках не указано.</a:t>
            </a:r>
          </a:p>
          <a:p>
            <a:pPr/>
          </a:p>
          <a:p>
            <a:pPr/>
            <a:r>
              <a:t>Источники: https://www.consultant.ru/document/cons_doc_LAW_64629/61d6709b930465436b5adb0943843ed28ff5dd8e/</a:t>
            </a:r>
          </a:p>
          <a:p>
            <a:pPr/>
            <a:r>
              <a:t>https://www.consultant.ru/document/cons_doc_LAW_64629/ce1359ed5b9bd99896d7a496c7887e7c223a2cbc/</a:t>
            </a:r>
          </a:p>
          <a:p>
            <a:pPr/>
            <a:r>
              <a:t>https://www.consultant.ru/document/cons_doc_LAW_64629/26479f35ea4ceb422ecc82a4aeb1aab94d70e92f/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История Git и акты помогают подтвердить создание результатов, но сами по себе не заменяют договор передачи исключительного права. В возмездном договоре указывают вознаграждение или порядок его определения; безвозмездность также должна быть прямо закреплена, когда она допустима. После регистрации программы переход исключительного права подлежит государственной регистрации. Программы для ЭВМ как таковые не патентуют: для возможного технического решения требуется отдельная оценка. Проверку товарных знаков и подачу заявки здесь не проводили.</a:t>
            </a:r>
          </a:p>
          <a:p>
            <a:pPr/>
          </a:p>
          <a:p>
            <a:pPr/>
            <a:r>
              <a:t>Источники: https://www.consultant.ru/document/cons_doc_LAW_64629/26479f35ea4ceb422ecc82a4aeb1aab94d70e92f/</a:t>
            </a:r>
          </a:p>
          <a:p>
            <a:pPr/>
            <a:r>
              <a:t>https://www.consultant.ru/document/cons_doc_LAW_64629/d0887a7ca3da6c85fbbce19815b9b1ead5e67687/</a:t>
            </a:r>
          </a:p>
          <a:p>
            <a:pPr/>
            <a:r>
              <a:t>https://www.consultant.ru/document/cons_doc_LAW_64629/ce1359ed5b9bd99896d7a496c7887e7c223a2cbc/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Предлагаемые меры для Friday. Правовые основания обработки определяются для каждой цели, согласие требуется не во всех случаях. При его использовании оно оформляется отдельно от иных подтверждаемых документов. Уведомление РКН об обработке направляют до её начала, если нет законного исключения. Для трансграничной передачи предусмотрено отдельное уведомление и проверка применимых ограничений. Часть 5 статьи 18 152-ФЗ устанавливает требования к локализации при сборе данных граждан РФ. Само использование иностранного AI API не снимает этих требований. Данные третьих лиц на экране также требуют правовой оценки. Голос не автоматически является биометрией: значение имеет использование для установления личности.</a:t>
            </a:r>
          </a:p>
          <a:p>
            <a:pPr/>
          </a:p>
          <a:p>
            <a:pPr/>
            <a:r>
              <a:t>Источники: https://mintrud.gov.ru/docs/laws/130</a:t>
            </a:r>
          </a:p>
          <a:p>
            <a:pPr/>
            <a:r>
              <a:t>https://www.consultant.ru/document/cons_doc_LAW_61801/e4ebbe1780de623c7cf32a59ca82a7bb523a25dd/</a:t>
            </a:r>
          </a:p>
          <a:p>
            <a:pPr/>
            <a:r>
              <a:t>https://www.consultant.ru/document/cons_doc_LAW_61801/d996966e22e1320c9de1ab82d9f6be12c3d9d765/</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Пакет отражает предлагаемые юридические отношения. Корпоративный договор после создания общества не заменяет устав и не устанавливает компетенцию органов самостоятельно. Договор с исполнителем должен учитывать конкретную модель создания программ: заказ, служебное произведение или отчуждение уже существующих прав. Условия подписки, лицензии и возвратов уточняются после выбора бизнес-модели. В исходных презентациях модели монетизации расходятся, поэтому конкретные тарифы здесь не закреплены.</a:t>
            </a:r>
          </a:p>
          <a:p>
            <a:pPr/>
          </a:p>
          <a:p>
            <a:pPr/>
            <a:r>
              <a:t>Источники: https://www.consultant.ru/document/cons_doc_LAW_5142/58e646d7b16793e74c6dd3b9e5a85e27a1b383ed/</a:t>
            </a:r>
          </a:p>
          <a:p>
            <a:pPr/>
            <a:r>
              <a:t>https://www.consultant.ru/document/cons_doc_LAW_64629/26479f35ea4ceb422ecc82a4aeb1aab94d70e92f/</a:t>
            </a:r>
          </a:p>
          <a:p>
            <a:pPr/>
            <a:r>
              <a:t>https://mintrud.gov.ru/docs/laws/130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Расширенный прототип: 1. Предмет. Участники координируют создание и развитие Friday и учреждение ООО. Состав сторон: Цыганов К., Солодкин М., Валиев А., Лемешев В., Пушкин В.; полные ФИО и реквизиты вносятся при подписании. 2. Вклады. Предлагаемый капитал 10 000 рублей, доля каждого 20%, денежный вклад 2 000 рублей, срок не позднее четырёх месяцев с регистрации. Трудовой вклад, расходы и передача прав описываются отдельно и не подменяют оплату капитала. 3. Управление. Генерального директора избирает общее собрание. Пределы полномочий и компетенцию закрепляют в уставе. Соглашение определяет порядок согласования голосования по бюджету, привлечению инвестора и распоряжению ключевой ИС. Обязательные требования закона сохраняются. Прибыль распределяют решением общего собрания с соблюдением законных ограничений; в предложенной модели пропорционально долям. Приложения: роли, план работ, перечень объектов ИС и доступов. Условия являются проектом, а не подтверждением существующих договорённостей.</a:t>
            </a:r>
          </a:p>
          <a:p>
            <a:pPr/>
          </a:p>
          <a:p>
            <a:pPr/>
            <a:r>
              <a:t>Источники: https://service.nalog.ru/gosreg/i/intro.html?sfrd=11001</a:t>
            </a:r>
          </a:p>
          <a:p>
            <a:pPr/>
            <a:r>
              <a:t>https://www.consultant.ru/document/cons_doc_LAW_5142/58e646d7b16793e74c6dd3b9e5a85e27a1b383ed/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a:r>
              <a:t>Расширенный прототип: 4. ИС. Каждый участник раскрывает созданные им результаты и сторонние компоненты. Передача исключительных прав ООО оформляется отдельным договором с перечнем объектов, вознаграждением либо допустимым условием о безвозмездности и моментом перехода права. Авторство сохраняется. Передача ключей и репозитория не заменяет передачу исключительного права. 5. Конфиденциальность. Не раскрывать непубличный код, архитектуру, ключи и сведения пользователей в период участия и три года после прекращения; исключения: публичные сведения, законное раскрытие государственным органам и письменное разрешение правообладателя. Персональные данные охраняются по закону независимо от этого срока. 6. Выход. Сообщить о прекращении работы за 30 календарных дней. Передать документацию и доступы по акту. Отчуждение доли оформляется отдельно с учётом преимущественного права, устава и требуемой нотариальной формы. Цена согласуется сторонами; при разногласии для переговоров привлекается независимый оценщик. Автоматического изъятия доли за уход нет. Выход из ООО в юридическом смысле возможен только в установленном законом и уставом порядке. 7. Ответственность. Нарушившая сторона возмещает доказанные убытки в установленном законом порядке. 8. Споры. Письменная претензия, 15 рабочих дней переговоров, затем суд по правилам компетенции и подсудности. 9. Срок и изменения. Соглашение действует с подписания; изменения подписывают все стороны. Прекращение не отменяет возникшие обязательства и положения о конфиденциальности. После учреждения корпоративный договор оформляется одним письменным документом, общество уведомляется о его заключении. Приложения: роли и результаты, реестр ИС, перечень конфиденциальных сведений, порядок передачи доступов.</a:t>
            </a:r>
          </a:p>
          <a:p>
            <a:pPr/>
          </a:p>
          <a:p>
            <a:pPr/>
            <a:r>
              <a:t>Источники: https://www.consultant.ru/document/cons_doc_LAW_5142/58e646d7b16793e74c6dd3b9e5a85e27a1b383ed/</a:t>
            </a:r>
          </a:p>
          <a:p>
            <a:pPr/>
            <a:r>
              <a:t>https://www.consultant.ru/document/cons_doc_LAW_64629/26479f35ea4ceb422ecc82a4aeb1aab94d70e92f/</a:t>
            </a:r>
          </a:p>
          <a:p>
            <a:pPr/>
            <a:r>
              <a:t>https://www.consultant.ru/document/cons_doc_LAW_17819/0a525c7e819fb19114001672d79d782c72f55caf/</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r>
              <a:t>Вывод по практической работе: для команды предложено ООО с равным распределением долей; определены объекты интеллектуальной собственности и порядок оформления прав; разработан прототип соглашения сооснователей. Распределение долей, сроки уведомления об уходе и переговоров являются предложениями для согласования. Источники содержания проекта: обе приложенные презентации. Нормативная база: ГК РФ, статьи 67.2, 1228, 1234, 1261, 1262; закон 14-ФЗ об ООО; закон 152-ФЗ о персональных данных. Проверка актуальности: 28.10.2026.</a:t>
            </a:r>
          </a:p>
          <a:p>
            <a:pPr/>
          </a:p>
          <a:p>
            <a:pPr/>
            <a:r>
              <a:t>Источники: https://service.nalog.ru/gosreg/i/intro.html?sfrd=11001</a:t>
            </a:r>
          </a:p>
          <a:p>
            <a:pPr/>
            <a:r>
              <a:t>https://www.consultant.ru/document/cons_doc_LAW_5142/58e646d7b16793e74c6dd3b9e5a85e27a1b383ed/</a:t>
            </a:r>
          </a:p>
          <a:p>
            <a:pPr/>
            <a:r>
              <a:t>https://www.consultant.ru/document/cons_doc_LAW_64629/26479f35ea4ceb422ecc82a4aeb1aab94d70e92f/</a:t>
            </a:r>
          </a:p>
          <a:p>
            <a:pPr/>
            <a:r>
              <a:t>https://www.consultant.ru/document/cons_doc_LAW_64629/61d6709b930465436b5adb0943843ed28ff5dd8e/</a:t>
            </a:r>
          </a:p>
          <a:p>
            <a:pPr/>
            <a:r>
              <a:t>https://www.consultant.ru/document/cons_doc_LAW_64629/ce1359ed5b9bd99896d7a496c7887e7c223a2cbc/</a:t>
            </a:r>
          </a:p>
          <a:p>
            <a:pPr/>
            <a:r>
              <a:t>https://www.consultant.ru/document/cons_doc_LAW_64629/d0887a7ca3da6c85fbbce19815b9b1ead5e67687/</a:t>
            </a:r>
          </a:p>
          <a:p>
            <a:pPr/>
            <a:r>
              <a:t>https://mintrud.gov.ru/docs/laws/130</a:t>
            </a:r>
          </a:p>
          <a:p>
            <a:pPr/>
            <a:r>
              <a:t>https://www.consultant.ru/document/cons_doc_LAW_61801/e4ebbe1780de623c7cf32a59ca82a7bb523a25dd/</a:t>
            </a:r>
          </a:p>
          <a:p>
            <a:pPr/>
            <a:r>
              <a:t>https://www.consultant.ru/document/cons_doc_LAW_61801/d996966e22e1320c9de1ab82d9f6be12c3d9d765/</a:t>
            </a:r>
          </a:p>
          <a:p>
            <a:pPr/>
            <a:r>
              <a:t>https://www.consultant.ru/document/cons_doc_LAW_17819/0a525c7e819fb19114001672d79d782c72f55caf/</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Текст заголовка"/>
          <p:cNvSpPr txBox="1"/>
          <p:nvPr>
            <p:ph type="title"/>
          </p:nvPr>
        </p:nvSpPr>
        <p:spPr>
          <a:xfrm>
            <a:off x="1219200" y="2590800"/>
            <a:ext cx="9753600" cy="990600"/>
          </a:xfrm>
          <a:prstGeom prst="rect">
            <a:avLst/>
          </a:prstGeom>
        </p:spPr>
        <p:txBody>
          <a:bodyPr anchor="ctr"/>
          <a:lstStyle>
            <a:lvl1pPr algn="ctr">
              <a:defRPr sz="4800"/>
            </a:lvl1pPr>
          </a:lstStyle>
          <a:p>
            <a:pPr/>
            <a:r>
              <a:t>Текст заголовка</a:t>
            </a:r>
          </a:p>
        </p:txBody>
      </p:sp>
      <p:sp>
        <p:nvSpPr>
          <p:cNvPr id="12" name="Уровень текста 1…"/>
          <p:cNvSpPr txBox="1"/>
          <p:nvPr>
            <p:ph type="body" sz="quarter" idx="1"/>
          </p:nvPr>
        </p:nvSpPr>
        <p:spPr>
          <a:xfrm>
            <a:off x="1828800" y="3771900"/>
            <a:ext cx="8534400" cy="762000"/>
          </a:xfrm>
          <a:prstGeom prst="rect">
            <a:avLst/>
          </a:prstGeom>
        </p:spPr>
        <p:txBody>
          <a:bodyPr anchor="ctr"/>
          <a:lstStyle>
            <a:lvl1pPr marL="0" indent="0" algn="ctr">
              <a:spcBef>
                <a:spcPts val="0"/>
              </a:spcBef>
              <a:buSzTx/>
              <a:buNone/>
              <a:defRPr sz="2100"/>
            </a:lvl1pPr>
            <a:lvl2pPr marL="0" indent="0" algn="ctr">
              <a:spcBef>
                <a:spcPts val="0"/>
              </a:spcBef>
              <a:buSzTx/>
              <a:buNone/>
              <a:defRPr sz="2100"/>
            </a:lvl2pPr>
            <a:lvl3pPr marL="0" indent="0" algn="ctr">
              <a:spcBef>
                <a:spcPts val="0"/>
              </a:spcBef>
              <a:buSzTx/>
              <a:buNone/>
              <a:defRPr sz="2100"/>
            </a:lvl3pPr>
            <a:lvl4pPr marL="0" indent="0" algn="ctr">
              <a:spcBef>
                <a:spcPts val="0"/>
              </a:spcBef>
              <a:buSzTx/>
              <a:buNone/>
              <a:defRPr sz="2100"/>
            </a:lvl4pPr>
            <a:lvl5pPr marL="0" indent="0" algn="ctr">
              <a:spcBef>
                <a:spcPts val="0"/>
              </a:spcBef>
              <a:buSzTx/>
              <a:buNone/>
              <a:defRPr sz="2100"/>
            </a:lvl5p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3"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0" name="Текст заголовка"/>
          <p:cNvSpPr txBox="1"/>
          <p:nvPr>
            <p:ph type="title"/>
          </p:nvPr>
        </p:nvSpPr>
        <p:spPr>
          <a:xfrm>
            <a:off x="1219200" y="2857500"/>
            <a:ext cx="9753600" cy="1143000"/>
          </a:xfrm>
          <a:prstGeom prst="rect">
            <a:avLst/>
          </a:prstGeom>
        </p:spPr>
        <p:txBody>
          <a:bodyPr anchor="ctr"/>
          <a:lstStyle>
            <a:lvl1pPr algn="ctr">
              <a:defRPr sz="4200"/>
            </a:lvl1pPr>
          </a:lstStyle>
          <a:p>
            <a:pPr/>
            <a:r>
              <a:t>Текст заголовка</a:t>
            </a:r>
          </a:p>
        </p:txBody>
      </p:sp>
      <p:sp>
        <p:nvSpPr>
          <p:cNvPr id="21"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28" name="Текст заголовка"/>
          <p:cNvSpPr txBox="1"/>
          <p:nvPr>
            <p:ph type="title"/>
          </p:nvPr>
        </p:nvSpPr>
        <p:spPr>
          <a:prstGeom prst="rect">
            <a:avLst/>
          </a:prstGeom>
        </p:spPr>
        <p:txBody>
          <a:bodyPr/>
          <a:lstStyle/>
          <a:p>
            <a:pPr/>
            <a:r>
              <a:t>Текст заголовка</a:t>
            </a:r>
          </a:p>
        </p:txBody>
      </p:sp>
      <p:sp>
        <p:nvSpPr>
          <p:cNvPr id="29" name="Уровень текста 1…"/>
          <p:cNvSpPr txBox="1"/>
          <p:nvPr>
            <p:ph type="body" idx="1"/>
          </p:nvPr>
        </p:nvSpPr>
        <p:spPr>
          <a:prstGeom prst="rect">
            <a:avLst/>
          </a:prstGeom>
        </p:spPr>
        <p:txBody>
          <a:body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30"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Two Column">
    <p:spTree>
      <p:nvGrpSpPr>
        <p:cNvPr id="1" name=""/>
        <p:cNvGrpSpPr/>
        <p:nvPr/>
      </p:nvGrpSpPr>
      <p:grpSpPr>
        <a:xfrm>
          <a:off x="0" y="0"/>
          <a:ext cx="0" cy="0"/>
          <a:chOff x="0" y="0"/>
          <a:chExt cx="0" cy="0"/>
        </a:xfrm>
      </p:grpSpPr>
      <p:sp>
        <p:nvSpPr>
          <p:cNvPr id="37" name="Текст заголовка"/>
          <p:cNvSpPr txBox="1"/>
          <p:nvPr>
            <p:ph type="title"/>
          </p:nvPr>
        </p:nvSpPr>
        <p:spPr>
          <a:prstGeom prst="rect">
            <a:avLst/>
          </a:prstGeom>
        </p:spPr>
        <p:txBody>
          <a:bodyPr/>
          <a:lstStyle/>
          <a:p>
            <a:pPr/>
            <a:r>
              <a:t>Текст заголовка</a:t>
            </a:r>
          </a:p>
        </p:txBody>
      </p:sp>
      <p:sp>
        <p:nvSpPr>
          <p:cNvPr id="38" name="Уровень текста 1…"/>
          <p:cNvSpPr txBox="1"/>
          <p:nvPr>
            <p:ph type="body" sz="half" idx="1"/>
          </p:nvPr>
        </p:nvSpPr>
        <p:spPr>
          <a:xfrm>
            <a:off x="685800" y="1905000"/>
            <a:ext cx="5029200" cy="4267200"/>
          </a:xfrm>
          <a:prstGeom prst="rect">
            <a:avLst/>
          </a:prstGeom>
        </p:spPr>
        <p:txBody>
          <a:bodyPr/>
          <a:lstStyle>
            <a:lvl1pPr>
              <a:defRPr sz="2100"/>
            </a:lvl1pPr>
            <a:lvl2pPr>
              <a:defRPr sz="2100"/>
            </a:lvl2pPr>
            <a:lvl3pPr>
              <a:defRPr sz="2100"/>
            </a:lvl3pPr>
            <a:lvl4pPr>
              <a:defRPr sz="2100"/>
            </a:lvl4pPr>
            <a:lvl5pPr>
              <a:defRPr sz="2100"/>
            </a:lvl5p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39" name="Right column"/>
          <p:cNvSpPr/>
          <p:nvPr>
            <p:ph type="body" sz="half" idx="21"/>
          </p:nvPr>
        </p:nvSpPr>
        <p:spPr>
          <a:xfrm>
            <a:off x="6477000" y="1905000"/>
            <a:ext cx="5029200" cy="4267200"/>
          </a:xfrm>
          <a:prstGeom prst="rect">
            <a:avLst/>
          </a:prstGeom>
        </p:spPr>
        <p:txBody>
          <a:bodyPr/>
          <a:lstStyle/>
          <a:p>
            <a:pPr>
              <a:defRPr sz="2100"/>
            </a:pPr>
          </a:p>
        </p:txBody>
      </p:sp>
      <p:sp>
        <p:nvSpPr>
          <p:cNvPr id="40"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One Column">
    <p:spTree>
      <p:nvGrpSpPr>
        <p:cNvPr id="1" name=""/>
        <p:cNvGrpSpPr/>
        <p:nvPr/>
      </p:nvGrpSpPr>
      <p:grpSpPr>
        <a:xfrm>
          <a:off x="0" y="0"/>
          <a:ext cx="0" cy="0"/>
          <a:chOff x="0" y="0"/>
          <a:chExt cx="0" cy="0"/>
        </a:xfrm>
      </p:grpSpPr>
      <p:sp>
        <p:nvSpPr>
          <p:cNvPr id="47" name="Текст заголовка"/>
          <p:cNvSpPr txBox="1"/>
          <p:nvPr>
            <p:ph type="title"/>
          </p:nvPr>
        </p:nvSpPr>
        <p:spPr>
          <a:prstGeom prst="rect">
            <a:avLst/>
          </a:prstGeom>
        </p:spPr>
        <p:txBody>
          <a:bodyPr/>
          <a:lstStyle/>
          <a:p>
            <a:pPr/>
            <a:r>
              <a:t>Текст заголовка</a:t>
            </a:r>
          </a:p>
        </p:txBody>
      </p:sp>
      <p:sp>
        <p:nvSpPr>
          <p:cNvPr id="48" name="Уровень текста 1…"/>
          <p:cNvSpPr txBox="1"/>
          <p:nvPr>
            <p:ph type="body" sz="half" idx="1"/>
          </p:nvPr>
        </p:nvSpPr>
        <p:spPr>
          <a:xfrm>
            <a:off x="685800" y="1905000"/>
            <a:ext cx="5029200" cy="4267200"/>
          </a:xfrm>
          <a:prstGeom prst="rect">
            <a:avLst/>
          </a:prstGeom>
        </p:spPr>
        <p:txBody>
          <a:body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4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6"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Текст заголовка"/>
          <p:cNvSpPr txBox="1"/>
          <p:nvPr>
            <p:ph type="title"/>
          </p:nvPr>
        </p:nvSpPr>
        <p:spPr>
          <a:xfrm>
            <a:off x="685800" y="533400"/>
            <a:ext cx="108204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Текст заголовка</a:t>
            </a:r>
          </a:p>
        </p:txBody>
      </p:sp>
      <p:sp>
        <p:nvSpPr>
          <p:cNvPr id="3" name="Уровень текста 1…"/>
          <p:cNvSpPr txBox="1"/>
          <p:nvPr>
            <p:ph type="body" idx="1"/>
          </p:nvPr>
        </p:nvSpPr>
        <p:spPr>
          <a:xfrm>
            <a:off x="685800" y="1905000"/>
            <a:ext cx="10820400" cy="42672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4" name="Номер слайда"/>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1pPr>
      <a:lvl2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2pPr>
      <a:lvl3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3pPr>
      <a:lvl4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4pPr>
      <a:lvl5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5pPr>
      <a:lvl6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6pPr>
      <a:lvl7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7pPr>
      <a:lvl8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8pPr>
      <a:lvl9pPr marL="0" marR="0" indent="0" algn="l" defTabSz="914400" rtl="0" latinLnBrk="0">
        <a:lnSpc>
          <a:spcPct val="110000"/>
        </a:lnSpc>
        <a:spcBef>
          <a:spcPts val="0"/>
        </a:spcBef>
        <a:spcAft>
          <a:spcPts val="0"/>
        </a:spcAft>
        <a:buClrTx/>
        <a:buSzTx/>
        <a:buFontTx/>
        <a:buNone/>
        <a:tabLst/>
        <a:defRPr b="1" baseline="0" cap="none" i="0" spc="0" strike="noStrike" sz="3300" u="none">
          <a:solidFill>
            <a:srgbClr val="000000"/>
          </a:solidFill>
          <a:uFillTx/>
          <a:latin typeface="Aptos"/>
          <a:ea typeface="Aptos"/>
          <a:cs typeface="Aptos"/>
          <a:sym typeface="Aptos"/>
        </a:defRPr>
      </a:lvl9pPr>
    </p:titleStyle>
    <p:bodyStyle>
      <a:lvl1pPr marL="2286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1pPr>
      <a:lvl2pPr marL="5334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2pPr>
      <a:lvl3pPr marL="8382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3pPr>
      <a:lvl4pPr marL="11430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4pPr>
      <a:lvl5pPr marL="14478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5pPr>
      <a:lvl6pPr marL="17526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6pPr>
      <a:lvl7pPr marL="20574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7pPr>
      <a:lvl8pPr marL="23622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8pPr>
      <a:lvl9pPr marL="2667000" marR="0" indent="-228600" algn="l" defTabSz="914400" rtl="0" latinLnBrk="0">
        <a:lnSpc>
          <a:spcPct val="110000"/>
        </a:lnSpc>
        <a:spcBef>
          <a:spcPts val="1200"/>
        </a:spcBef>
        <a:spcAft>
          <a:spcPts val="0"/>
        </a:spcAft>
        <a:buClrTx/>
        <a:buSzPct val="100000"/>
        <a:buFontTx/>
        <a:buChar char="•"/>
        <a:tabLst/>
        <a:defRPr b="0" baseline="0" cap="none" i="0" spc="0" strike="noStrike" sz="2200" u="none">
          <a:solidFill>
            <a:srgbClr val="000000"/>
          </a:solidFill>
          <a:uFillTx/>
          <a:latin typeface="Aptos"/>
          <a:ea typeface="Aptos"/>
          <a:cs typeface="Apto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65" name="text-0"/>
          <p:cNvSpPr txBox="1"/>
          <p:nvPr/>
        </p:nvSpPr>
        <p:spPr>
          <a:xfrm>
            <a:off x="609600" y="523875"/>
            <a:ext cx="7429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Практическое занятие №15</a:t>
            </a:r>
          </a:p>
        </p:txBody>
      </p:sp>
      <p:sp>
        <p:nvSpPr>
          <p:cNvPr id="66" name="text-1"/>
          <p:cNvSpPr txBox="1"/>
          <p:nvPr/>
        </p:nvSpPr>
        <p:spPr>
          <a:xfrm>
            <a:off x="609600" y="1619250"/>
            <a:ext cx="7048500" cy="1193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7800">
                <a:solidFill>
                  <a:srgbClr val="17233D"/>
                </a:solidFill>
                <a:latin typeface="DejaVu Sans"/>
                <a:ea typeface="DejaVu Sans"/>
                <a:cs typeface="DejaVu Sans"/>
                <a:sym typeface="DejaVu Sans"/>
              </a:defRPr>
            </a:lvl1pPr>
          </a:lstStyle>
          <a:p>
            <a:pPr/>
            <a:r>
              <a:t>Friday</a:t>
            </a:r>
          </a:p>
        </p:txBody>
      </p:sp>
      <p:sp>
        <p:nvSpPr>
          <p:cNvPr id="67" name="text-2"/>
          <p:cNvSpPr txBox="1"/>
          <p:nvPr/>
        </p:nvSpPr>
        <p:spPr>
          <a:xfrm>
            <a:off x="666750" y="3048000"/>
            <a:ext cx="85725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200">
                <a:solidFill>
                  <a:srgbClr val="4466D8"/>
                </a:solidFill>
                <a:latin typeface="DejaVu Sans"/>
                <a:ea typeface="DejaVu Sans"/>
                <a:cs typeface="DejaVu Sans"/>
                <a:sym typeface="DejaVu Sans"/>
              </a:defRPr>
            </a:lvl1pPr>
          </a:lstStyle>
          <a:p>
            <a:pPr/>
            <a:r>
              <a:t>Правовая модель стартапа</a:t>
            </a:r>
          </a:p>
        </p:txBody>
      </p:sp>
      <p:sp>
        <p:nvSpPr>
          <p:cNvPr id="68" name="text-3"/>
          <p:cNvSpPr txBox="1"/>
          <p:nvPr/>
        </p:nvSpPr>
        <p:spPr>
          <a:xfrm>
            <a:off x="666750" y="3876675"/>
            <a:ext cx="7524750" cy="660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200">
                <a:solidFill>
                  <a:srgbClr val="566279"/>
                </a:solidFill>
                <a:latin typeface="DejaVu Sans"/>
                <a:ea typeface="DejaVu Sans"/>
                <a:cs typeface="DejaVu Sans"/>
                <a:sym typeface="DejaVu Sans"/>
              </a:defRPr>
            </a:pPr>
            <a:r>
              <a:t>Интеллектуальная собственность</a:t>
            </a:r>
          </a:p>
          <a:p>
            <a:pPr>
              <a:defRPr sz="2200">
                <a:solidFill>
                  <a:srgbClr val="566279"/>
                </a:solidFill>
                <a:latin typeface="DejaVu Sans"/>
                <a:ea typeface="DejaVu Sans"/>
                <a:cs typeface="DejaVu Sans"/>
                <a:sym typeface="DejaVu Sans"/>
              </a:defRPr>
            </a:pPr>
            <a:r>
              <a:t>и соглашение сооснователей</a:t>
            </a:r>
          </a:p>
        </p:txBody>
      </p:sp>
      <p:pic>
        <p:nvPicPr>
          <p:cNvPr id="69" name="image.png" descr="image.png"/>
          <p:cNvPicPr>
            <a:picLocks noChangeAspect="1"/>
          </p:cNvPicPr>
          <p:nvPr/>
        </p:nvPicPr>
        <p:blipFill>
          <a:blip r:embed="rId3">
            <a:extLst/>
          </a:blip>
          <a:stretch>
            <a:fillRect/>
          </a:stretch>
        </p:blipFill>
        <p:spPr>
          <a:xfrm>
            <a:off x="8572500" y="1571625"/>
            <a:ext cx="2857500" cy="28575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73"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Для команды Friday подходит ООО</a:t>
            </a:r>
          </a:p>
        </p:txBody>
      </p:sp>
      <p:sp>
        <p:nvSpPr>
          <p:cNvPr id="74"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Friday объединяет голосовой интерфейс, управление Windows и работу с несколькими устройствами.</a:t>
            </a:r>
          </a:p>
        </p:txBody>
      </p:sp>
      <p:sp>
        <p:nvSpPr>
          <p:cNvPr id="75"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02</a:t>
            </a:r>
          </a:p>
        </p:txBody>
      </p:sp>
      <p:graphicFrame>
        <p:nvGraphicFramePr>
          <p:cNvPr id="76" name="Tаблица 1"/>
          <p:cNvGraphicFramePr/>
          <p:nvPr/>
        </p:nvGraphicFramePr>
        <p:xfrm>
          <a:off x="609600" y="2095500"/>
          <a:ext cx="10972800" cy="27146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90875"/>
                <a:gridCol w="3571875"/>
                <a:gridCol w="4210050"/>
              </a:tblGrid>
              <a:tr h="678656">
                <a:tc>
                  <a:txBody>
                    <a:bodyPr/>
                    <a:lstStyle/>
                    <a:p>
                      <a:pPr algn="l">
                        <a:defRPr sz="1800"/>
                      </a:pPr>
                      <a:r>
                        <a:rPr b="1" sz="1700">
                          <a:solidFill>
                            <a:srgbClr val="FFFFFF"/>
                          </a:solidFill>
                          <a:latin typeface="DejaVu Sans"/>
                          <a:ea typeface="DejaVu Sans"/>
                          <a:cs typeface="DejaVu Sans"/>
                          <a:sym typeface="DejaVu Sans"/>
                        </a:rPr>
                        <a:t>Критерий</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700">
                          <a:solidFill>
                            <a:srgbClr val="FFFFFF"/>
                          </a:solidFill>
                          <a:latin typeface="DejaVu Sans"/>
                          <a:ea typeface="DejaVu Sans"/>
                          <a:cs typeface="DejaVu Sans"/>
                          <a:sym typeface="DejaVu Sans"/>
                        </a:rPr>
                        <a:t>ИП</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700">
                          <a:solidFill>
                            <a:srgbClr val="FFFFFF"/>
                          </a:solidFill>
                          <a:latin typeface="DejaVu Sans"/>
                          <a:ea typeface="DejaVu Sans"/>
                          <a:cs typeface="DejaVu Sans"/>
                          <a:sym typeface="DejaVu Sans"/>
                        </a:rPr>
                        <a:t>ООО</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r>
              <a:tr h="678656">
                <a:tc>
                  <a:txBody>
                    <a:bodyPr/>
                    <a:lstStyle/>
                    <a:p>
                      <a:pPr algn="l">
                        <a:defRPr sz="1800"/>
                      </a:pPr>
                      <a:r>
                        <a:rPr sz="1700">
                          <a:solidFill>
                            <a:srgbClr val="17233D"/>
                          </a:solidFill>
                          <a:latin typeface="DejaVu Sans"/>
                          <a:ea typeface="DejaVu Sans"/>
                          <a:cs typeface="DejaVu Sans"/>
                          <a:sym typeface="DejaVu Sans"/>
                        </a:rPr>
                        <a:t>Команда из пяти человек</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700">
                          <a:solidFill>
                            <a:srgbClr val="17233D"/>
                          </a:solidFill>
                          <a:latin typeface="DejaVu Sans"/>
                          <a:ea typeface="DejaVu Sans"/>
                          <a:cs typeface="DejaVu Sans"/>
                          <a:sym typeface="DejaVu Sans"/>
                        </a:rPr>
                        <a:t>Один владелец бизнеса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700">
                          <a:solidFill>
                            <a:srgbClr val="17233D"/>
                          </a:solidFill>
                          <a:latin typeface="DejaVu Sans"/>
                          <a:ea typeface="DejaVu Sans"/>
                          <a:cs typeface="DejaVu Sans"/>
                          <a:sym typeface="DejaVu Sans"/>
                        </a:rPr>
                        <a:t>Доли всех сооснователей</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678656">
                <a:tc>
                  <a:txBody>
                    <a:bodyPr/>
                    <a:lstStyle/>
                    <a:p>
                      <a:pPr algn="l">
                        <a:defRPr sz="1800"/>
                      </a:pPr>
                      <a:r>
                        <a:rPr sz="1700">
                          <a:solidFill>
                            <a:srgbClr val="17233D"/>
                          </a:solidFill>
                          <a:latin typeface="DejaVu Sans"/>
                          <a:ea typeface="DejaVu Sans"/>
                          <a:cs typeface="DejaVu Sans"/>
                          <a:sym typeface="DejaVu Sans"/>
                        </a:rPr>
                        <a:t>Права на продукт</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700">
                          <a:solidFill>
                            <a:srgbClr val="17233D"/>
                          </a:solidFill>
                          <a:latin typeface="DejaVu Sans"/>
                          <a:ea typeface="DejaVu Sans"/>
                          <a:cs typeface="DejaVu Sans"/>
                          <a:sym typeface="DejaVu Sans"/>
                        </a:rPr>
                        <a:t>У физического лица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700">
                          <a:solidFill>
                            <a:srgbClr val="17233D"/>
                          </a:solidFill>
                          <a:latin typeface="DejaVu Sans"/>
                          <a:ea typeface="DejaVu Sans"/>
                          <a:cs typeface="DejaVu Sans"/>
                          <a:sym typeface="DejaVu Sans"/>
                        </a:rPr>
                        <a:t>У отдельного юридического лица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r h="678656">
                <a:tc>
                  <a:txBody>
                    <a:bodyPr/>
                    <a:lstStyle/>
                    <a:p>
                      <a:pPr algn="l">
                        <a:defRPr sz="1800"/>
                      </a:pPr>
                      <a:r>
                        <a:rPr sz="1700">
                          <a:solidFill>
                            <a:srgbClr val="17233D"/>
                          </a:solidFill>
                          <a:latin typeface="DejaVu Sans"/>
                          <a:ea typeface="DejaVu Sans"/>
                          <a:cs typeface="DejaVu Sans"/>
                          <a:sym typeface="DejaVu Sans"/>
                        </a:rPr>
                        <a:t>Привлечение партнёра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700">
                          <a:solidFill>
                            <a:srgbClr val="17233D"/>
                          </a:solidFill>
                          <a:latin typeface="DejaVu Sans"/>
                          <a:ea typeface="DejaVu Sans"/>
                          <a:cs typeface="DejaVu Sans"/>
                          <a:sym typeface="DejaVu Sans"/>
                        </a:rPr>
                        <a:t>Без доли в ИП</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700">
                          <a:solidFill>
                            <a:srgbClr val="17233D"/>
                          </a:solidFill>
                          <a:latin typeface="DejaVu Sans"/>
                          <a:ea typeface="DejaVu Sans"/>
                          <a:cs typeface="DejaVu Sans"/>
                          <a:sym typeface="DejaVu Sans"/>
                        </a:rPr>
                        <a:t>Возможно участие в капитале</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bl>
          </a:graphicData>
        </a:graphic>
      </p:graphicFrame>
      <p:sp>
        <p:nvSpPr>
          <p:cNvPr id="77" name="text-3"/>
          <p:cNvSpPr txBox="1"/>
          <p:nvPr/>
        </p:nvSpPr>
        <p:spPr>
          <a:xfrm>
            <a:off x="609600" y="5219700"/>
            <a:ext cx="2952750" cy="485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200">
                <a:solidFill>
                  <a:srgbClr val="4466D8"/>
                </a:solidFill>
                <a:latin typeface="DejaVu Sans"/>
                <a:ea typeface="DejaVu Sans"/>
                <a:cs typeface="DejaVu Sans"/>
                <a:sym typeface="DejaVu Sans"/>
              </a:defRPr>
            </a:lvl1pPr>
          </a:lstStyle>
          <a:p>
            <a:pPr/>
            <a:r>
              <a:t>1 000 000 ₽</a:t>
            </a:r>
          </a:p>
        </p:txBody>
      </p:sp>
      <p:sp>
        <p:nvSpPr>
          <p:cNvPr id="78" name="text-4"/>
          <p:cNvSpPr txBox="1"/>
          <p:nvPr/>
        </p:nvSpPr>
        <p:spPr>
          <a:xfrm>
            <a:off x="3810000" y="5257800"/>
            <a:ext cx="7620000" cy="5606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7233D"/>
                </a:solidFill>
                <a:latin typeface="DejaVu Sans"/>
                <a:ea typeface="DejaVu Sans"/>
                <a:cs typeface="DejaVu Sans"/>
                <a:sym typeface="DejaVu Sans"/>
              </a:defRPr>
            </a:pPr>
            <a:r>
              <a:t>предлагаемый уставный капитал</a:t>
            </a:r>
          </a:p>
          <a:p>
            <a:pPr>
              <a:defRPr>
                <a:solidFill>
                  <a:srgbClr val="17233D"/>
                </a:solidFill>
                <a:latin typeface="DejaVu Sans"/>
                <a:ea typeface="DejaVu Sans"/>
                <a:cs typeface="DejaVu Sans"/>
                <a:sym typeface="DejaVu Sans"/>
              </a:defRPr>
            </a:pPr>
            <a:r>
              <a:t>по 200 000 ₽ от каждого участника</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82"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Доли и управление</a:t>
            </a:r>
          </a:p>
        </p:txBody>
      </p:sp>
      <p:sp>
        <p:nvSpPr>
          <p:cNvPr id="83" name="text-1"/>
          <p:cNvSpPr txBox="1"/>
          <p:nvPr/>
        </p:nvSpPr>
        <p:spPr>
          <a:xfrm>
            <a:off x="609600" y="1257300"/>
            <a:ext cx="108585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Рабочее предложение: равные доли при сопоставимом вкладе. Команда должна согласовать его отдельно.</a:t>
            </a:r>
          </a:p>
        </p:txBody>
      </p:sp>
      <p:sp>
        <p:nvSpPr>
          <p:cNvPr id="84"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03</a:t>
            </a:r>
          </a:p>
        </p:txBody>
      </p:sp>
      <p:graphicFrame>
        <p:nvGraphicFramePr>
          <p:cNvPr id="85" name="Tаблица 1"/>
          <p:cNvGraphicFramePr/>
          <p:nvPr/>
        </p:nvGraphicFramePr>
        <p:xfrm>
          <a:off x="609600" y="2019300"/>
          <a:ext cx="10972800" cy="338137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952750"/>
                <a:gridCol w="6400800"/>
                <a:gridCol w="1619250"/>
              </a:tblGrid>
              <a:tr h="563563">
                <a:tc>
                  <a:txBody>
                    <a:bodyPr/>
                    <a:lstStyle/>
                    <a:p>
                      <a:pPr algn="l">
                        <a:defRPr sz="1800"/>
                      </a:pPr>
                      <a:r>
                        <a:rPr b="1" sz="1600">
                          <a:solidFill>
                            <a:srgbClr val="FFFFFF"/>
                          </a:solidFill>
                          <a:latin typeface="DejaVu Sans"/>
                          <a:ea typeface="DejaVu Sans"/>
                          <a:cs typeface="DejaVu Sans"/>
                          <a:sym typeface="DejaVu Sans"/>
                        </a:rPr>
                        <a:t>Участник</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Направление</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Доля</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r>
              <a:tr h="563563">
                <a:tc>
                  <a:txBody>
                    <a:bodyPr/>
                    <a:lstStyle/>
                    <a:p>
                      <a:pPr algn="l">
                        <a:defRPr sz="1800"/>
                      </a:pPr>
                      <a:r>
                        <a:rPr sz="1600">
                          <a:solidFill>
                            <a:srgbClr val="17233D"/>
                          </a:solidFill>
                          <a:latin typeface="DejaVu Sans"/>
                          <a:ea typeface="DejaVu Sans"/>
                          <a:cs typeface="DejaVu Sans"/>
                          <a:sym typeface="DejaVu Sans"/>
                        </a:rPr>
                        <a:t>Цыганов К.</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AI-архитектура и робототехника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20%</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563563">
                <a:tc>
                  <a:txBody>
                    <a:bodyPr/>
                    <a:lstStyle/>
                    <a:p>
                      <a:pPr algn="l">
                        <a:defRPr sz="1800"/>
                      </a:pPr>
                      <a:r>
                        <a:rPr sz="1600">
                          <a:solidFill>
                            <a:srgbClr val="17233D"/>
                          </a:solidFill>
                          <a:latin typeface="DejaVu Sans"/>
                          <a:ea typeface="DejaVu Sans"/>
                          <a:cs typeface="DejaVu Sans"/>
                          <a:sym typeface="DejaVu Sans"/>
                        </a:rPr>
                        <a:t>Солодкин М.</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Windows-клиент на C#</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20%</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r h="563563">
                <a:tc>
                  <a:txBody>
                    <a:bodyPr/>
                    <a:lstStyle/>
                    <a:p>
                      <a:pPr algn="l">
                        <a:defRPr sz="1800"/>
                      </a:pPr>
                      <a:r>
                        <a:rPr sz="1600">
                          <a:solidFill>
                            <a:srgbClr val="17233D"/>
                          </a:solidFill>
                          <a:latin typeface="DejaVu Sans"/>
                          <a:ea typeface="DejaVu Sans"/>
                          <a:cs typeface="DejaVu Sans"/>
                          <a:sym typeface="DejaVu Sans"/>
                        </a:rPr>
                        <a:t>Валиев 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Android-клиент на Java</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20%</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563563">
                <a:tc>
                  <a:txBody>
                    <a:bodyPr/>
                    <a:lstStyle/>
                    <a:p>
                      <a:pPr algn="l">
                        <a:defRPr sz="1800"/>
                      </a:pPr>
                      <a:r>
                        <a:rPr sz="1600">
                          <a:solidFill>
                            <a:srgbClr val="17233D"/>
                          </a:solidFill>
                          <a:latin typeface="DejaVu Sans"/>
                          <a:ea typeface="DejaVu Sans"/>
                          <a:cs typeface="DejaVu Sans"/>
                          <a:sym typeface="DejaVu Sans"/>
                        </a:rPr>
                        <a:t>Лемешев В.</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Web</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20%</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r h="563563">
                <a:tc>
                  <a:txBody>
                    <a:bodyPr/>
                    <a:lstStyle/>
                    <a:p>
                      <a:pPr algn="l">
                        <a:defRPr sz="1800"/>
                      </a:pPr>
                      <a:r>
                        <a:rPr sz="1600">
                          <a:solidFill>
                            <a:srgbClr val="17233D"/>
                          </a:solidFill>
                          <a:latin typeface="DejaVu Sans"/>
                          <a:ea typeface="DejaVu Sans"/>
                          <a:cs typeface="DejaVu Sans"/>
                          <a:sym typeface="DejaVu Sans"/>
                        </a:rPr>
                        <a:t>Пушкин В.</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Backend</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20%</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bl>
          </a:graphicData>
        </a:graphic>
      </p:graphicFrame>
      <p:sp>
        <p:nvSpPr>
          <p:cNvPr id="86" name="text-3"/>
          <p:cNvSpPr txBox="1"/>
          <p:nvPr/>
        </p:nvSpPr>
        <p:spPr>
          <a:xfrm>
            <a:off x="609600" y="5657850"/>
            <a:ext cx="10668000" cy="723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6279"/>
                </a:solidFill>
                <a:latin typeface="DejaVu Sans"/>
                <a:ea typeface="DejaVu Sans"/>
                <a:cs typeface="DejaVu Sans"/>
                <a:sym typeface="DejaVu Sans"/>
              </a:defRPr>
            </a:pPr>
            <a:r>
              <a:t>Участники утверждают ключевые решения. Директор ведёт текущую работу.</a:t>
            </a:r>
          </a:p>
          <a:p>
            <a:pPr>
              <a:defRPr sz="1600">
                <a:solidFill>
                  <a:srgbClr val="566279"/>
                </a:solidFill>
                <a:latin typeface="DejaVu Sans"/>
                <a:ea typeface="DejaVu Sans"/>
                <a:cs typeface="DejaVu Sans"/>
                <a:sym typeface="DejaVu Sans"/>
              </a:defRPr>
            </a:pPr>
            <a:r>
              <a:t>ООО отвечает своим имуществом; в предусмотренных законом случаях</a:t>
            </a:r>
          </a:p>
          <a:p>
            <a:pPr>
              <a:defRPr sz="1600">
                <a:solidFill>
                  <a:srgbClr val="566279"/>
                </a:solidFill>
                <a:latin typeface="DejaVu Sans"/>
                <a:ea typeface="DejaVu Sans"/>
                <a:cs typeface="DejaVu Sans"/>
                <a:sym typeface="DejaVu Sans"/>
              </a:defRPr>
            </a:pPr>
            <a:r>
              <a:t>возможна личная, в том числе субсидиарная, ответственность.</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90"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Что нужно защитить</a:t>
            </a:r>
          </a:p>
        </p:txBody>
      </p:sp>
      <p:sp>
        <p:nvSpPr>
          <p:cNvPr id="91"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Планируемый правообладатель собственных разработок после оформления передачи прав: ООО.</a:t>
            </a:r>
          </a:p>
        </p:txBody>
      </p:sp>
      <p:sp>
        <p:nvSpPr>
          <p:cNvPr id="92"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04</a:t>
            </a:r>
          </a:p>
        </p:txBody>
      </p:sp>
      <p:graphicFrame>
        <p:nvGraphicFramePr>
          <p:cNvPr id="93" name="Tаблица 1"/>
          <p:cNvGraphicFramePr/>
          <p:nvPr/>
        </p:nvGraphicFramePr>
        <p:xfrm>
          <a:off x="609600" y="2047875"/>
          <a:ext cx="10972800" cy="34766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857500"/>
                <a:gridCol w="3429000"/>
                <a:gridCol w="4686300"/>
              </a:tblGrid>
              <a:tr h="695325">
                <a:tc>
                  <a:txBody>
                    <a:bodyPr/>
                    <a:lstStyle/>
                    <a:p>
                      <a:pPr algn="l">
                        <a:defRPr sz="1800"/>
                      </a:pPr>
                      <a:r>
                        <a:rPr b="1" sz="1600">
                          <a:solidFill>
                            <a:srgbClr val="FFFFFF"/>
                          </a:solidFill>
                          <a:latin typeface="DejaVu Sans"/>
                          <a:ea typeface="DejaVu Sans"/>
                          <a:cs typeface="DejaVu Sans"/>
                          <a:sym typeface="DejaVu Sans"/>
                        </a:rPr>
                        <a:t>Объект</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Способ защиты</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Документ / действие</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r>
              <a:tr h="695325">
                <a:tc>
                  <a:txBody>
                    <a:bodyPr/>
                    <a:lstStyle/>
                    <a:p>
                      <a:pPr algn="l">
                        <a:defRPr sz="1800"/>
                      </a:pPr>
                      <a:r>
                        <a:rPr sz="1600">
                          <a:solidFill>
                            <a:srgbClr val="17233D"/>
                          </a:solidFill>
                          <a:latin typeface="DejaVu Sans"/>
                          <a:ea typeface="DejaVu Sans"/>
                          <a:cs typeface="DejaVu Sans"/>
                          <a:sym typeface="DejaVu Sans"/>
                        </a:rPr>
                        <a:t>Код клиентов и backend</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Авторское право</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Договор передачи прав, акт,
реестр версий и авторов</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695325">
                <a:tc>
                  <a:txBody>
                    <a:bodyPr/>
                    <a:lstStyle/>
                    <a:p>
                      <a:pPr algn="l">
                        <a:defRPr sz="1800"/>
                      </a:pPr>
                      <a:r>
                        <a:rPr sz="1600">
                          <a:solidFill>
                            <a:srgbClr val="17233D"/>
                          </a:solidFill>
                          <a:latin typeface="DejaVu Sans"/>
                          <a:ea typeface="DejaVu Sans"/>
                          <a:cs typeface="DejaVu Sans"/>
                          <a:sym typeface="DejaVu Sans"/>
                        </a:rPr>
                        <a:t>Интерфейс и документация</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Авторское право</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Перечень материалов
и условия передачи прав</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r h="695325">
                <a:tc>
                  <a:txBody>
                    <a:bodyPr/>
                    <a:lstStyle/>
                    <a:p>
                      <a:pPr algn="l">
                        <a:defRPr sz="1800"/>
                      </a:pPr>
                      <a:r>
                        <a:rPr sz="1600">
                          <a:solidFill>
                            <a:srgbClr val="17233D"/>
                          </a:solidFill>
                          <a:latin typeface="DejaVu Sans"/>
                          <a:ea typeface="DejaVu Sans"/>
                          <a:cs typeface="DejaVu Sans"/>
                          <a:sym typeface="DejaVu Sans"/>
                        </a:rPr>
                        <a:t>Название и логотип</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Товарный знак</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Проверка обозначений,
заявка в Роспатент</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695325">
                <a:tc>
                  <a:txBody>
                    <a:bodyPr/>
                    <a:lstStyle/>
                    <a:p>
                      <a:pPr algn="l">
                        <a:defRPr sz="1800"/>
                      </a:pPr>
                      <a:r>
                        <a:rPr sz="1600">
                          <a:solidFill>
                            <a:srgbClr val="17233D"/>
                          </a:solidFill>
                          <a:latin typeface="DejaVu Sans"/>
                          <a:ea typeface="DejaVu Sans"/>
                          <a:cs typeface="DejaVu Sans"/>
                          <a:sym typeface="DejaVu Sans"/>
                        </a:rPr>
                        <a:t>Непубличные разработки</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Конфиденциальность</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NDA, список сведений,
ограничение доступа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bl>
          </a:graphicData>
        </a:graphic>
      </p:graphicFrame>
      <p:sp>
        <p:nvSpPr>
          <p:cNvPr id="94" name="text-3"/>
          <p:cNvSpPr txBox="1"/>
          <p:nvPr/>
        </p:nvSpPr>
        <p:spPr>
          <a:xfrm>
            <a:off x="609600" y="5791200"/>
            <a:ext cx="10668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6279"/>
                </a:solidFill>
                <a:latin typeface="DejaVu Sans"/>
                <a:ea typeface="DejaVu Sans"/>
                <a:cs typeface="DejaVu Sans"/>
                <a:sym typeface="DejaVu Sans"/>
              </a:defRPr>
            </a:pPr>
            <a:r>
              <a:t>Право авторства остаётся у создателей. Исключительные права на использование</a:t>
            </a:r>
          </a:p>
          <a:p>
            <a:pPr>
              <a:defRPr sz="1600">
                <a:solidFill>
                  <a:srgbClr val="566279"/>
                </a:solidFill>
                <a:latin typeface="DejaVu Sans"/>
                <a:ea typeface="DejaVu Sans"/>
                <a:cs typeface="DejaVu Sans"/>
                <a:sym typeface="DejaVu Sans"/>
              </a:defRPr>
            </a:pPr>
            <a:r>
              <a:t>можно передать компании. Чужие библиотеки используются по их лицензиям.</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98"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План оформления интеллектуальных прав</a:t>
            </a:r>
          </a:p>
        </p:txBody>
      </p:sp>
      <p:sp>
        <p:nvSpPr>
          <p:cNvPr id="99"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Сначала подтверждаем происхождение материалов и права на них, затем готовим регистрацию.</a:t>
            </a:r>
          </a:p>
        </p:txBody>
      </p:sp>
      <p:sp>
        <p:nvSpPr>
          <p:cNvPr id="100"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05</a:t>
            </a:r>
          </a:p>
        </p:txBody>
      </p:sp>
      <p:sp>
        <p:nvSpPr>
          <p:cNvPr id="101" name="text-3"/>
          <p:cNvSpPr txBox="1"/>
          <p:nvPr/>
        </p:nvSpPr>
        <p:spPr>
          <a:xfrm>
            <a:off x="609600" y="209550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01</a:t>
            </a:r>
          </a:p>
        </p:txBody>
      </p:sp>
      <p:sp>
        <p:nvSpPr>
          <p:cNvPr id="102" name="text-4"/>
          <p:cNvSpPr txBox="1"/>
          <p:nvPr/>
        </p:nvSpPr>
        <p:spPr>
          <a:xfrm>
            <a:off x="1276350" y="209550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Инвентаризация</a:t>
            </a:r>
          </a:p>
        </p:txBody>
      </p:sp>
      <p:sp>
        <p:nvSpPr>
          <p:cNvPr id="103" name="text-5"/>
          <p:cNvSpPr txBox="1"/>
          <p:nvPr/>
        </p:nvSpPr>
        <p:spPr>
          <a:xfrm>
            <a:off x="1276350" y="2552700"/>
            <a:ext cx="9810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Зафиксировать авторов, репозитории, версии кода, дизайн и документацию.</a:t>
            </a:r>
          </a:p>
        </p:txBody>
      </p:sp>
      <p:sp>
        <p:nvSpPr>
          <p:cNvPr id="104" name="text-6"/>
          <p:cNvSpPr txBox="1"/>
          <p:nvPr/>
        </p:nvSpPr>
        <p:spPr>
          <a:xfrm>
            <a:off x="609600" y="333375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02</a:t>
            </a:r>
          </a:p>
        </p:txBody>
      </p:sp>
      <p:sp>
        <p:nvSpPr>
          <p:cNvPr id="105" name="text-7"/>
          <p:cNvSpPr txBox="1"/>
          <p:nvPr/>
        </p:nvSpPr>
        <p:spPr>
          <a:xfrm>
            <a:off x="1276350" y="333375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Передача прав компании</a:t>
            </a:r>
          </a:p>
        </p:txBody>
      </p:sp>
      <p:sp>
        <p:nvSpPr>
          <p:cNvPr id="106" name="text-8"/>
          <p:cNvSpPr txBox="1"/>
          <p:nvPr/>
        </p:nvSpPr>
        <p:spPr>
          <a:xfrm>
            <a:off x="1276350" y="379095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Подписать договоры с перечнем результатов, условиями оплаты и моментом перехода прав.</a:t>
            </a:r>
          </a:p>
        </p:txBody>
      </p:sp>
      <p:sp>
        <p:nvSpPr>
          <p:cNvPr id="107" name="text-9"/>
          <p:cNvSpPr txBox="1"/>
          <p:nvPr/>
        </p:nvSpPr>
        <p:spPr>
          <a:xfrm>
            <a:off x="609600" y="457200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03</a:t>
            </a:r>
          </a:p>
        </p:txBody>
      </p:sp>
      <p:sp>
        <p:nvSpPr>
          <p:cNvPr id="108" name="text-10"/>
          <p:cNvSpPr txBox="1"/>
          <p:nvPr/>
        </p:nvSpPr>
        <p:spPr>
          <a:xfrm>
            <a:off x="1276350" y="457200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Проверка лицензий и бренда</a:t>
            </a:r>
          </a:p>
        </p:txBody>
      </p:sp>
      <p:sp>
        <p:nvSpPr>
          <p:cNvPr id="109" name="text-11"/>
          <p:cNvSpPr txBox="1"/>
          <p:nvPr/>
        </p:nvSpPr>
        <p:spPr>
          <a:xfrm>
            <a:off x="1276350" y="502920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Проверить зависимости, условия AI API и обозначения Friday / «Пятница» до подачи заявки.</a:t>
            </a:r>
          </a:p>
        </p:txBody>
      </p:sp>
      <p:sp>
        <p:nvSpPr>
          <p:cNvPr id="110" name="text-12"/>
          <p:cNvSpPr txBox="1"/>
          <p:nvPr/>
        </p:nvSpPr>
        <p:spPr>
          <a:xfrm>
            <a:off x="1276350" y="5867400"/>
            <a:ext cx="10096500"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466D8"/>
                </a:solidFill>
                <a:latin typeface="DejaVu Sans"/>
                <a:ea typeface="DejaVu Sans"/>
                <a:cs typeface="DejaVu Sans"/>
                <a:sym typeface="DejaVu Sans"/>
              </a:defRPr>
            </a:pPr>
            <a:r>
              <a:t>Регистрация программы в Роспатенте добровольна. Патент на техническое решение</a:t>
            </a:r>
          </a:p>
          <a:p>
            <a:pPr>
              <a:defRPr sz="1500">
                <a:solidFill>
                  <a:srgbClr val="4466D8"/>
                </a:solidFill>
                <a:latin typeface="DejaVu Sans"/>
                <a:ea typeface="DejaVu Sans"/>
                <a:cs typeface="DejaVu Sans"/>
                <a:sym typeface="DejaVu Sans"/>
              </a:defRPr>
            </a:pPr>
            <a:r>
              <a:t>рассматривается отдельно, если есть охраноспособная разработка.</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114"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Данные и действия на устройствах</a:t>
            </a:r>
          </a:p>
        </p:txBody>
      </p:sp>
      <p:sp>
        <p:nvSpPr>
          <p:cNvPr id="115"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Голос, скриншоты и история команд могут содержать персональные и конфиденциальные данные.</a:t>
            </a:r>
          </a:p>
        </p:txBody>
      </p:sp>
      <p:sp>
        <p:nvSpPr>
          <p:cNvPr id="116"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06</a:t>
            </a:r>
          </a:p>
        </p:txBody>
      </p:sp>
      <p:sp>
        <p:nvSpPr>
          <p:cNvPr id="117" name="text-3"/>
          <p:cNvSpPr txBox="1"/>
          <p:nvPr/>
        </p:nvSpPr>
        <p:spPr>
          <a:xfrm>
            <a:off x="609600" y="2133600"/>
            <a:ext cx="5048250"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Обработка данных</a:t>
            </a:r>
          </a:p>
        </p:txBody>
      </p:sp>
      <p:sp>
        <p:nvSpPr>
          <p:cNvPr id="118" name="text-4"/>
          <p:cNvSpPr txBox="1"/>
          <p:nvPr/>
        </p:nvSpPr>
        <p:spPr>
          <a:xfrm>
            <a:off x="609600" y="2762250"/>
            <a:ext cx="5238750" cy="2514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7233D"/>
                </a:solidFill>
                <a:latin typeface="DejaVu Sans"/>
                <a:ea typeface="DejaVu Sans"/>
                <a:cs typeface="DejaVu Sans"/>
                <a:sym typeface="DejaVu Sans"/>
              </a:defRPr>
            </a:pPr>
            <a:r>
              <a:t>Установить цели, состав данных</a:t>
            </a:r>
          </a:p>
          <a:p>
            <a:pPr>
              <a:defRPr>
                <a:solidFill>
                  <a:srgbClr val="17233D"/>
                </a:solidFill>
                <a:latin typeface="DejaVu Sans"/>
                <a:ea typeface="DejaVu Sans"/>
                <a:cs typeface="DejaVu Sans"/>
                <a:sym typeface="DejaVu Sans"/>
              </a:defRPr>
            </a:pPr>
            <a:r>
              <a:t>и сроки хранения.</a:t>
            </a:r>
          </a:p>
          <a:p>
            <a:pPr>
              <a:defRPr>
                <a:solidFill>
                  <a:srgbClr val="17233D"/>
                </a:solidFill>
                <a:latin typeface="DejaVu Sans"/>
                <a:ea typeface="DejaVu Sans"/>
                <a:cs typeface="DejaVu Sans"/>
                <a:sym typeface="DejaVu Sans"/>
              </a:defRPr>
            </a:pPr>
          </a:p>
          <a:p>
            <a:pPr>
              <a:defRPr>
                <a:solidFill>
                  <a:srgbClr val="17233D"/>
                </a:solidFill>
                <a:latin typeface="DejaVu Sans"/>
                <a:ea typeface="DejaVu Sans"/>
                <a:cs typeface="DejaVu Sans"/>
                <a:sym typeface="DejaVu Sans"/>
              </a:defRPr>
            </a:pPr>
            <a:r>
              <a:t>Опубликовать политику. Если нужно</a:t>
            </a:r>
          </a:p>
          <a:p>
            <a:pPr>
              <a:defRPr>
                <a:solidFill>
                  <a:srgbClr val="17233D"/>
                </a:solidFill>
                <a:latin typeface="DejaVu Sans"/>
                <a:ea typeface="DejaVu Sans"/>
                <a:cs typeface="DejaVu Sans"/>
                <a:sym typeface="DejaVu Sans"/>
              </a:defRPr>
            </a:pPr>
            <a:r>
              <a:t>согласие, оформить его отдельно.</a:t>
            </a:r>
          </a:p>
          <a:p>
            <a:pPr>
              <a:defRPr>
                <a:solidFill>
                  <a:srgbClr val="17233D"/>
                </a:solidFill>
                <a:latin typeface="DejaVu Sans"/>
                <a:ea typeface="DejaVu Sans"/>
                <a:cs typeface="DejaVu Sans"/>
                <a:sym typeface="DejaVu Sans"/>
              </a:defRPr>
            </a:pPr>
          </a:p>
          <a:p>
            <a:pPr>
              <a:defRPr>
                <a:solidFill>
                  <a:srgbClr val="17233D"/>
                </a:solidFill>
                <a:latin typeface="DejaVu Sans"/>
                <a:ea typeface="DejaVu Sans"/>
                <a:cs typeface="DejaVu Sans"/>
                <a:sym typeface="DejaVu Sans"/>
              </a:defRPr>
            </a:pPr>
            <a:r>
              <a:t>Соблюсти локализацию при сборе</a:t>
            </a:r>
          </a:p>
          <a:p>
            <a:pPr>
              <a:defRPr>
                <a:solidFill>
                  <a:srgbClr val="17233D"/>
                </a:solidFill>
                <a:latin typeface="DejaVu Sans"/>
                <a:ea typeface="DejaVu Sans"/>
                <a:cs typeface="DejaVu Sans"/>
                <a:sym typeface="DejaVu Sans"/>
              </a:defRPr>
            </a:pPr>
            <a:r>
              <a:t>данных граждан РФ и правила</a:t>
            </a:r>
          </a:p>
          <a:p>
            <a:pPr>
              <a:defRPr>
                <a:solidFill>
                  <a:srgbClr val="17233D"/>
                </a:solidFill>
                <a:latin typeface="DejaVu Sans"/>
                <a:ea typeface="DejaVu Sans"/>
                <a:cs typeface="DejaVu Sans"/>
                <a:sym typeface="DejaVu Sans"/>
              </a:defRPr>
            </a:pPr>
            <a:r>
              <a:t>трансграничной передачи.</a:t>
            </a:r>
          </a:p>
        </p:txBody>
      </p:sp>
      <p:sp>
        <p:nvSpPr>
          <p:cNvPr id="119" name="text-5"/>
          <p:cNvSpPr txBox="1"/>
          <p:nvPr/>
        </p:nvSpPr>
        <p:spPr>
          <a:xfrm>
            <a:off x="6477000" y="2133600"/>
            <a:ext cx="5105400"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Контроль пользователя</a:t>
            </a:r>
          </a:p>
        </p:txBody>
      </p:sp>
      <p:sp>
        <p:nvSpPr>
          <p:cNvPr id="120" name="text-6"/>
          <p:cNvSpPr txBox="1"/>
          <p:nvPr/>
        </p:nvSpPr>
        <p:spPr>
          <a:xfrm>
            <a:off x="6477000" y="2762250"/>
            <a:ext cx="5105400" cy="2514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7233D"/>
                </a:solidFill>
                <a:latin typeface="DejaVu Sans"/>
                <a:ea typeface="DejaVu Sans"/>
                <a:cs typeface="DejaVu Sans"/>
                <a:sym typeface="DejaVu Sans"/>
              </a:defRPr>
            </a:pPr>
            <a:r>
              <a:t>Запрашивать разрешения на доступ</a:t>
            </a:r>
          </a:p>
          <a:p>
            <a:pPr>
              <a:defRPr>
                <a:solidFill>
                  <a:srgbClr val="17233D"/>
                </a:solidFill>
                <a:latin typeface="DejaVu Sans"/>
                <a:ea typeface="DejaVu Sans"/>
                <a:cs typeface="DejaVu Sans"/>
                <a:sym typeface="DejaVu Sans"/>
              </a:defRPr>
            </a:pPr>
            <a:r>
              <a:t>к экрану, микрофону и устройствам.</a:t>
            </a:r>
          </a:p>
          <a:p>
            <a:pPr>
              <a:defRPr>
                <a:solidFill>
                  <a:srgbClr val="17233D"/>
                </a:solidFill>
                <a:latin typeface="DejaVu Sans"/>
                <a:ea typeface="DejaVu Sans"/>
                <a:cs typeface="DejaVu Sans"/>
                <a:sym typeface="DejaVu Sans"/>
              </a:defRPr>
            </a:pPr>
          </a:p>
          <a:p>
            <a:pPr>
              <a:defRPr>
                <a:solidFill>
                  <a:srgbClr val="17233D"/>
                </a:solidFill>
                <a:latin typeface="DejaVu Sans"/>
                <a:ea typeface="DejaVu Sans"/>
                <a:cs typeface="DejaVu Sans"/>
                <a:sym typeface="DejaVu Sans"/>
              </a:defRPr>
            </a:pPr>
            <a:r>
              <a:t>Подтверждать удаление файлов</a:t>
            </a:r>
          </a:p>
          <a:p>
            <a:pPr>
              <a:defRPr>
                <a:solidFill>
                  <a:srgbClr val="17233D"/>
                </a:solidFill>
                <a:latin typeface="DejaVu Sans"/>
                <a:ea typeface="DejaVu Sans"/>
                <a:cs typeface="DejaVu Sans"/>
                <a:sym typeface="DejaVu Sans"/>
              </a:defRPr>
            </a:pPr>
            <a:r>
              <a:t>и другие опасные действия.</a:t>
            </a:r>
          </a:p>
          <a:p>
            <a:pPr>
              <a:defRPr>
                <a:solidFill>
                  <a:srgbClr val="17233D"/>
                </a:solidFill>
                <a:latin typeface="DejaVu Sans"/>
                <a:ea typeface="DejaVu Sans"/>
                <a:cs typeface="DejaVu Sans"/>
                <a:sym typeface="DejaVu Sans"/>
              </a:defRPr>
            </a:pPr>
          </a:p>
          <a:p>
            <a:pPr>
              <a:defRPr>
                <a:solidFill>
                  <a:srgbClr val="17233D"/>
                </a:solidFill>
                <a:latin typeface="DejaVu Sans"/>
                <a:ea typeface="DejaVu Sans"/>
                <a:cs typeface="DejaVu Sans"/>
                <a:sym typeface="DejaVu Sans"/>
              </a:defRPr>
            </a:pPr>
            <a:r>
              <a:t>Минимизировать передачу данных</a:t>
            </a:r>
          </a:p>
          <a:p>
            <a:pPr>
              <a:defRPr>
                <a:solidFill>
                  <a:srgbClr val="17233D"/>
                </a:solidFill>
                <a:latin typeface="DejaVu Sans"/>
                <a:ea typeface="DejaVu Sans"/>
                <a:cs typeface="DejaVu Sans"/>
                <a:sym typeface="DejaVu Sans"/>
              </a:defRPr>
            </a:pPr>
            <a:r>
              <a:t>в AI API. Дать возможность</a:t>
            </a:r>
          </a:p>
          <a:p>
            <a:pPr>
              <a:defRPr>
                <a:solidFill>
                  <a:srgbClr val="17233D"/>
                </a:solidFill>
                <a:latin typeface="DejaVu Sans"/>
                <a:ea typeface="DejaVu Sans"/>
                <a:cs typeface="DejaVu Sans"/>
                <a:sym typeface="DejaVu Sans"/>
              </a:defRPr>
            </a:pPr>
            <a:r>
              <a:t>отключить доступ и удалить данные.</a:t>
            </a:r>
          </a:p>
        </p:txBody>
      </p:sp>
      <p:sp>
        <p:nvSpPr>
          <p:cNvPr id="121" name="text-7"/>
          <p:cNvSpPr txBox="1"/>
          <p:nvPr/>
        </p:nvSpPr>
        <p:spPr>
          <a:xfrm>
            <a:off x="609600" y="6096000"/>
            <a:ext cx="107632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566279"/>
                </a:solidFill>
                <a:latin typeface="DejaVu Sans"/>
                <a:ea typeface="DejaVu Sans"/>
                <a:cs typeface="DejaVu Sans"/>
                <a:sym typeface="DejaVu Sans"/>
              </a:defRPr>
            </a:lvl1pPr>
          </a:lstStyle>
          <a:p>
            <a:pPr/>
            <a:r>
              <a:t>До запуска: определить оператора, оформить уведомления РКН и проверить условия AI-провайдеров.</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125"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Пакет документов к запуску</a:t>
            </a:r>
          </a:p>
        </p:txBody>
      </p:sp>
      <p:sp>
        <p:nvSpPr>
          <p:cNvPr id="126"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Для практической работы подробно разработан прототип соглашения сооснователей.</a:t>
            </a:r>
          </a:p>
        </p:txBody>
      </p:sp>
      <p:sp>
        <p:nvSpPr>
          <p:cNvPr id="127"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07</a:t>
            </a:r>
          </a:p>
        </p:txBody>
      </p:sp>
      <p:graphicFrame>
        <p:nvGraphicFramePr>
          <p:cNvPr id="128" name="Tаблица 1"/>
          <p:cNvGraphicFramePr/>
          <p:nvPr/>
        </p:nvGraphicFramePr>
        <p:xfrm>
          <a:off x="609600" y="2085975"/>
          <a:ext cx="10972800" cy="35623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714625"/>
                <a:gridCol w="4143375"/>
                <a:gridCol w="4114800"/>
              </a:tblGrid>
              <a:tr h="712470">
                <a:tc>
                  <a:txBody>
                    <a:bodyPr/>
                    <a:lstStyle/>
                    <a:p>
                      <a:pPr algn="l">
                        <a:defRPr sz="1800"/>
                      </a:pPr>
                      <a:r>
                        <a:rPr b="1" sz="1600">
                          <a:solidFill>
                            <a:srgbClr val="FFFFFF"/>
                          </a:solidFill>
                          <a:latin typeface="DejaVu Sans"/>
                          <a:ea typeface="DejaVu Sans"/>
                          <a:cs typeface="DejaVu Sans"/>
                          <a:sym typeface="DejaVu Sans"/>
                        </a:rPr>
                        <a:t>С кем / для чего</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Документы</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c>
                  <a:txBody>
                    <a:bodyPr/>
                    <a:lstStyle/>
                    <a:p>
                      <a:pPr algn="l">
                        <a:defRPr sz="1800"/>
                      </a:pPr>
                      <a:r>
                        <a:rPr b="1" sz="1600">
                          <a:solidFill>
                            <a:srgbClr val="FFFFFF"/>
                          </a:solidFill>
                          <a:latin typeface="DejaVu Sans"/>
                          <a:ea typeface="DejaVu Sans"/>
                          <a:cs typeface="DejaVu Sans"/>
                          <a:sym typeface="DejaVu Sans"/>
                        </a:rPr>
                        <a:t>Что закрепляют</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17233D"/>
                    </a:solidFill>
                  </a:tcPr>
                </a:tc>
              </a:tr>
              <a:tr h="712470">
                <a:tc>
                  <a:txBody>
                    <a:bodyPr/>
                    <a:lstStyle/>
                    <a:p>
                      <a:pPr algn="l">
                        <a:defRPr sz="1800"/>
                      </a:pPr>
                      <a:r>
                        <a:rPr sz="1600">
                          <a:solidFill>
                            <a:srgbClr val="17233D"/>
                          </a:solidFill>
                          <a:latin typeface="DejaVu Sans"/>
                          <a:ea typeface="DejaVu Sans"/>
                          <a:cs typeface="DejaVu Sans"/>
                          <a:sym typeface="DejaVu Sans"/>
                        </a:rPr>
                        <a:t>Сооснователи</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Договор об учреждении, устав,
соглашение участников</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Вклады, управление,
выход из проекта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712470">
                <a:tc>
                  <a:txBody>
                    <a:bodyPr/>
                    <a:lstStyle/>
                    <a:p>
                      <a:pPr algn="l">
                        <a:defRPr sz="1800"/>
                      </a:pPr>
                      <a:r>
                        <a:rPr sz="1600">
                          <a:solidFill>
                            <a:srgbClr val="17233D"/>
                          </a:solidFill>
                          <a:latin typeface="DejaVu Sans"/>
                          <a:ea typeface="DejaVu Sans"/>
                          <a:cs typeface="DejaVu Sans"/>
                          <a:sym typeface="DejaVu Sans"/>
                        </a:rPr>
                        <a:t>Разработчики</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Трудовой или гражданский
договор, акты, NDA</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Результат, сроки, оплата,
интеллектуальные права</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r h="712470">
                <a:tc>
                  <a:txBody>
                    <a:bodyPr/>
                    <a:lstStyle/>
                    <a:p>
                      <a:pPr algn="l">
                        <a:defRPr sz="1800"/>
                      </a:pPr>
                      <a:r>
                        <a:rPr sz="1600">
                          <a:solidFill>
                            <a:srgbClr val="17233D"/>
                          </a:solidFill>
                          <a:latin typeface="DejaVu Sans"/>
                          <a:ea typeface="DejaVu Sans"/>
                          <a:cs typeface="DejaVu Sans"/>
                          <a:sym typeface="DejaVu Sans"/>
                        </a:rPr>
                        <a:t>Пользователи</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Лицензионное соглашение,
при оплате условия оферты</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c>
                  <a:txBody>
                    <a:bodyPr/>
                    <a:lstStyle/>
                    <a:p>
                      <a:pPr algn="l">
                        <a:defRPr sz="1800"/>
                      </a:pPr>
                      <a:r>
                        <a:rPr sz="1600">
                          <a:solidFill>
                            <a:srgbClr val="17233D"/>
                          </a:solidFill>
                          <a:latin typeface="DejaVu Sans"/>
                          <a:ea typeface="DejaVu Sans"/>
                          <a:cs typeface="DejaVu Sans"/>
                          <a:sym typeface="DejaVu Sans"/>
                        </a:rPr>
                        <a:t>Разрешённое использование,
доступ, оплата и возвраты</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FFFFFF"/>
                    </a:solidFill>
                  </a:tcPr>
                </a:tc>
              </a:tr>
              <a:tr h="712470">
                <a:tc>
                  <a:txBody>
                    <a:bodyPr/>
                    <a:lstStyle/>
                    <a:p>
                      <a:pPr algn="l">
                        <a:defRPr sz="1800"/>
                      </a:pPr>
                      <a:r>
                        <a:rPr sz="1600">
                          <a:solidFill>
                            <a:srgbClr val="17233D"/>
                          </a:solidFill>
                          <a:latin typeface="DejaVu Sans"/>
                          <a:ea typeface="DejaVu Sans"/>
                          <a:cs typeface="DejaVu Sans"/>
                          <a:sym typeface="DejaVu Sans"/>
                        </a:rPr>
                        <a:t>Персональные данные</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Политика, согласия при
необходимости, поручения</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c>
                  <a:txBody>
                    <a:bodyPr/>
                    <a:lstStyle/>
                    <a:p>
                      <a:pPr algn="l">
                        <a:defRPr sz="1800"/>
                      </a:pPr>
                      <a:r>
                        <a:rPr sz="1600">
                          <a:solidFill>
                            <a:srgbClr val="17233D"/>
                          </a:solidFill>
                          <a:latin typeface="DejaVu Sans"/>
                          <a:ea typeface="DejaVu Sans"/>
                          <a:cs typeface="DejaVu Sans"/>
                          <a:sym typeface="DejaVu Sans"/>
                        </a:rPr>
                        <a:t>Цели и основания обработки,
получатели и меры защиты</a:t>
                      </a:r>
                    </a:p>
                  </a:txBody>
                  <a:tcPr marL="76200" marR="76200" marT="76200" marB="76200" anchor="ctr" anchorCtr="0" horzOverflow="overflow">
                    <a:lnL>
                      <a:solidFill>
                        <a:srgbClr val="D9DFEF"/>
                      </a:solidFill>
                    </a:lnL>
                    <a:lnR>
                      <a:solidFill>
                        <a:srgbClr val="D9DFEF"/>
                      </a:solidFill>
                    </a:lnR>
                    <a:lnT>
                      <a:solidFill>
                        <a:srgbClr val="D9DFEF"/>
                      </a:solidFill>
                    </a:lnT>
                    <a:lnB>
                      <a:solidFill>
                        <a:srgbClr val="D9DFEF"/>
                      </a:solidFill>
                    </a:lnB>
                    <a:solidFill>
                      <a:srgbClr val="ECF0F9"/>
                    </a:solidFill>
                  </a:tcPr>
                </a:tc>
              </a:tr>
            </a:tbl>
          </a:graphicData>
        </a:graphic>
      </p:graphicFrame>
      <p:sp>
        <p:nvSpPr>
          <p:cNvPr id="129" name="text-3"/>
          <p:cNvSpPr txBox="1"/>
          <p:nvPr/>
        </p:nvSpPr>
        <p:spPr>
          <a:xfrm>
            <a:off x="609600" y="5857875"/>
            <a:ext cx="1076325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6279"/>
                </a:solidFill>
                <a:latin typeface="DejaVu Sans"/>
                <a:ea typeface="DejaVu Sans"/>
                <a:cs typeface="DejaVu Sans"/>
                <a:sym typeface="DejaVu Sans"/>
              </a:defRPr>
            </a:pPr>
            <a:r>
              <a:t>В пользовательских условиях отдельно описываем доступ к устройствам</a:t>
            </a:r>
          </a:p>
          <a:p>
            <a:pPr>
              <a:defRPr sz="1600">
                <a:solidFill>
                  <a:srgbClr val="566279"/>
                </a:solidFill>
                <a:latin typeface="DejaVu Sans"/>
                <a:ea typeface="DejaVu Sans"/>
                <a:cs typeface="DejaVu Sans"/>
                <a:sym typeface="DejaVu Sans"/>
              </a:defRPr>
            </a:pPr>
            <a:r>
              <a:t>и подтверждение опасных команд. Общий отказ от любой ответственности не используем.</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133"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Соглашение: вклад и управление</a:t>
            </a:r>
          </a:p>
        </p:txBody>
      </p:sp>
      <p:sp>
        <p:nvSpPr>
          <p:cNvPr id="134"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Прототип. Стороны: пять участников команды, перечисленных на слайде 3.</a:t>
            </a:r>
          </a:p>
        </p:txBody>
      </p:sp>
      <p:sp>
        <p:nvSpPr>
          <p:cNvPr id="135"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08</a:t>
            </a:r>
          </a:p>
        </p:txBody>
      </p:sp>
      <p:sp>
        <p:nvSpPr>
          <p:cNvPr id="136" name="text-3"/>
          <p:cNvSpPr txBox="1"/>
          <p:nvPr/>
        </p:nvSpPr>
        <p:spPr>
          <a:xfrm>
            <a:off x="609600" y="211455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1</a:t>
            </a:r>
          </a:p>
        </p:txBody>
      </p:sp>
      <p:sp>
        <p:nvSpPr>
          <p:cNvPr id="137" name="text-4"/>
          <p:cNvSpPr txBox="1"/>
          <p:nvPr/>
        </p:nvSpPr>
        <p:spPr>
          <a:xfrm>
            <a:off x="1276350" y="211455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Предмет и вклад</a:t>
            </a:r>
          </a:p>
        </p:txBody>
      </p:sp>
      <p:sp>
        <p:nvSpPr>
          <p:cNvPr id="138" name="text-5"/>
          <p:cNvSpPr txBox="1"/>
          <p:nvPr/>
        </p:nvSpPr>
        <p:spPr>
          <a:xfrm>
            <a:off x="1276350" y="2571750"/>
            <a:ext cx="9810750" cy="5606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«Стороны совместно развивают проект, создают ООО и согласуют доли по 20%.</a:t>
            </a:r>
          </a:p>
          <a:p>
            <a:pPr>
              <a:defRPr>
                <a:solidFill>
                  <a:srgbClr val="566279"/>
                </a:solidFill>
                <a:latin typeface="DejaVu Sans"/>
                <a:ea typeface="DejaVu Sans"/>
                <a:cs typeface="DejaVu Sans"/>
                <a:sym typeface="DejaVu Sans"/>
              </a:defRPr>
            </a:pPr>
            <a:r>
              <a:t>Каждая сторона вносит 200 000 ₽ в уставный капитал в установленный срок».</a:t>
            </a:r>
          </a:p>
        </p:txBody>
      </p:sp>
      <p:sp>
        <p:nvSpPr>
          <p:cNvPr id="139" name="text-6"/>
          <p:cNvSpPr txBox="1"/>
          <p:nvPr/>
        </p:nvSpPr>
        <p:spPr>
          <a:xfrm>
            <a:off x="609600" y="344805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2</a:t>
            </a:r>
          </a:p>
        </p:txBody>
      </p:sp>
      <p:sp>
        <p:nvSpPr>
          <p:cNvPr id="140" name="text-7"/>
          <p:cNvSpPr txBox="1"/>
          <p:nvPr/>
        </p:nvSpPr>
        <p:spPr>
          <a:xfrm>
            <a:off x="1276350" y="344805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Роли и результаты</a:t>
            </a:r>
          </a:p>
        </p:txBody>
      </p:sp>
      <p:sp>
        <p:nvSpPr>
          <p:cNvPr id="141" name="text-8"/>
          <p:cNvSpPr txBox="1"/>
          <p:nvPr/>
        </p:nvSpPr>
        <p:spPr>
          <a:xfrm>
            <a:off x="1276350" y="390525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«Роли определены в приложении. Задачи и сроки фиксируются в плане работ.</a:t>
            </a:r>
          </a:p>
          <a:p>
            <a:pPr>
              <a:defRPr>
                <a:solidFill>
                  <a:srgbClr val="566279"/>
                </a:solidFill>
                <a:latin typeface="DejaVu Sans"/>
                <a:ea typeface="DejaVu Sans"/>
                <a:cs typeface="DejaVu Sans"/>
                <a:sym typeface="DejaVu Sans"/>
              </a:defRPr>
            </a:pPr>
            <a:r>
              <a:t>Результаты участники подтверждают в общем репозитории».</a:t>
            </a:r>
          </a:p>
        </p:txBody>
      </p:sp>
      <p:sp>
        <p:nvSpPr>
          <p:cNvPr id="142" name="text-9"/>
          <p:cNvSpPr txBox="1"/>
          <p:nvPr/>
        </p:nvSpPr>
        <p:spPr>
          <a:xfrm>
            <a:off x="609600" y="478155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3</a:t>
            </a:r>
          </a:p>
        </p:txBody>
      </p:sp>
      <p:sp>
        <p:nvSpPr>
          <p:cNvPr id="143" name="text-10"/>
          <p:cNvSpPr txBox="1"/>
          <p:nvPr/>
        </p:nvSpPr>
        <p:spPr>
          <a:xfrm>
            <a:off x="1276350" y="478155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Принятие решений</a:t>
            </a:r>
          </a:p>
        </p:txBody>
      </p:sp>
      <p:sp>
        <p:nvSpPr>
          <p:cNvPr id="144" name="text-11"/>
          <p:cNvSpPr txBox="1"/>
          <p:nvPr/>
        </p:nvSpPr>
        <p:spPr>
          <a:xfrm>
            <a:off x="1276350" y="523875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«Текущую работу ведёт директор. Участники согласуют бюджет и ключевые</a:t>
            </a:r>
          </a:p>
          <a:p>
            <a:pPr>
              <a:defRPr>
                <a:solidFill>
                  <a:srgbClr val="566279"/>
                </a:solidFill>
                <a:latin typeface="DejaVu Sans"/>
                <a:ea typeface="DejaVu Sans"/>
                <a:cs typeface="DejaVu Sans"/>
                <a:sym typeface="DejaVu Sans"/>
              </a:defRPr>
            </a:pPr>
            <a:r>
              <a:t>сделки; голосование проводится по закону и уставу общества».</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148"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Соглашение: права и выход</a:t>
            </a:r>
          </a:p>
        </p:txBody>
      </p:sp>
      <p:sp>
        <p:nvSpPr>
          <p:cNvPr id="149"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Оставшиеся положения прототипа и приложения вынесены также в заметки докладчика.</a:t>
            </a:r>
          </a:p>
        </p:txBody>
      </p:sp>
      <p:sp>
        <p:nvSpPr>
          <p:cNvPr id="150"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09</a:t>
            </a:r>
          </a:p>
        </p:txBody>
      </p:sp>
      <p:sp>
        <p:nvSpPr>
          <p:cNvPr id="151" name="text-3"/>
          <p:cNvSpPr txBox="1"/>
          <p:nvPr/>
        </p:nvSpPr>
        <p:spPr>
          <a:xfrm>
            <a:off x="609600" y="207645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4</a:t>
            </a:r>
          </a:p>
        </p:txBody>
      </p:sp>
      <p:sp>
        <p:nvSpPr>
          <p:cNvPr id="152" name="text-4"/>
          <p:cNvSpPr txBox="1"/>
          <p:nvPr/>
        </p:nvSpPr>
        <p:spPr>
          <a:xfrm>
            <a:off x="1276350" y="207645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Права и конфиденциальность</a:t>
            </a:r>
          </a:p>
        </p:txBody>
      </p:sp>
      <p:sp>
        <p:nvSpPr>
          <p:cNvPr id="153" name="text-5"/>
          <p:cNvSpPr txBox="1"/>
          <p:nvPr/>
        </p:nvSpPr>
        <p:spPr>
          <a:xfrm>
            <a:off x="1276350" y="253365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«Права на разработки передаются ООО по отдельным договорам.</a:t>
            </a:r>
          </a:p>
          <a:p>
            <a:pPr>
              <a:defRPr>
                <a:solidFill>
                  <a:srgbClr val="566279"/>
                </a:solidFill>
                <a:latin typeface="DejaVu Sans"/>
                <a:ea typeface="DejaVu Sans"/>
                <a:cs typeface="DejaVu Sans"/>
                <a:sym typeface="DejaVu Sans"/>
              </a:defRPr>
            </a:pPr>
            <a:r>
              <a:t>Непубличный код, ключи и данные нельзя раскрывать без разрешения».</a:t>
            </a:r>
          </a:p>
        </p:txBody>
      </p:sp>
      <p:sp>
        <p:nvSpPr>
          <p:cNvPr id="154" name="text-6"/>
          <p:cNvSpPr txBox="1"/>
          <p:nvPr/>
        </p:nvSpPr>
        <p:spPr>
          <a:xfrm>
            <a:off x="609600" y="3438525"/>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5</a:t>
            </a:r>
          </a:p>
        </p:txBody>
      </p:sp>
      <p:sp>
        <p:nvSpPr>
          <p:cNvPr id="155" name="text-7"/>
          <p:cNvSpPr txBox="1"/>
          <p:nvPr/>
        </p:nvSpPr>
        <p:spPr>
          <a:xfrm>
            <a:off x="1276350" y="3438525"/>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Выход из проекта</a:t>
            </a:r>
          </a:p>
        </p:txBody>
      </p:sp>
      <p:sp>
        <p:nvSpPr>
          <p:cNvPr id="156" name="text-8"/>
          <p:cNvSpPr txBox="1"/>
          <p:nvPr/>
        </p:nvSpPr>
        <p:spPr>
          <a:xfrm>
            <a:off x="1276350" y="3895725"/>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«Участник сообщает об уходе за 30 дней и передаёт материалы и доступы.</a:t>
            </a:r>
          </a:p>
          <a:p>
            <a:pPr>
              <a:defRPr>
                <a:solidFill>
                  <a:srgbClr val="566279"/>
                </a:solidFill>
                <a:latin typeface="DejaVu Sans"/>
                <a:ea typeface="DejaVu Sans"/>
                <a:cs typeface="DejaVu Sans"/>
                <a:sym typeface="DejaVu Sans"/>
              </a:defRPr>
            </a:pPr>
            <a:r>
              <a:t>Прекращение работы само по себе не прекращает право на долю».</a:t>
            </a:r>
          </a:p>
        </p:txBody>
      </p:sp>
      <p:sp>
        <p:nvSpPr>
          <p:cNvPr id="157" name="text-9"/>
          <p:cNvSpPr txBox="1"/>
          <p:nvPr/>
        </p:nvSpPr>
        <p:spPr>
          <a:xfrm>
            <a:off x="609600" y="4800600"/>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6</a:t>
            </a:r>
          </a:p>
        </p:txBody>
      </p:sp>
      <p:sp>
        <p:nvSpPr>
          <p:cNvPr id="158" name="text-10"/>
          <p:cNvSpPr txBox="1"/>
          <p:nvPr/>
        </p:nvSpPr>
        <p:spPr>
          <a:xfrm>
            <a:off x="1276350" y="4800600"/>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Споры и ответственность</a:t>
            </a:r>
          </a:p>
        </p:txBody>
      </p:sp>
      <p:sp>
        <p:nvSpPr>
          <p:cNvPr id="159" name="text-11"/>
          <p:cNvSpPr txBox="1"/>
          <p:nvPr/>
        </p:nvSpPr>
        <p:spPr>
          <a:xfrm>
            <a:off x="1276350" y="5257800"/>
            <a:ext cx="9810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6279"/>
                </a:solidFill>
                <a:latin typeface="DejaVu Sans"/>
                <a:ea typeface="DejaVu Sans"/>
                <a:cs typeface="DejaVu Sans"/>
                <a:sym typeface="DejaVu Sans"/>
              </a:defRPr>
            </a:pPr>
            <a:r>
              <a:t>«Стороны сначала проводят переговоры в течение 15 рабочих дней.</a:t>
            </a:r>
          </a:p>
          <a:p>
            <a:pPr>
              <a:defRPr>
                <a:solidFill>
                  <a:srgbClr val="566279"/>
                </a:solidFill>
                <a:latin typeface="DejaVu Sans"/>
                <a:ea typeface="DejaVu Sans"/>
                <a:cs typeface="DejaVu Sans"/>
                <a:sym typeface="DejaVu Sans"/>
              </a:defRPr>
            </a:pPr>
            <a:r>
              <a:t>При отсутствии соглашения спор рассматривает компетентный суд».</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7FC"/>
        </a:solidFill>
      </p:bgPr>
    </p:bg>
    <p:spTree>
      <p:nvGrpSpPr>
        <p:cNvPr id="1" name=""/>
        <p:cNvGrpSpPr/>
        <p:nvPr/>
      </p:nvGrpSpPr>
      <p:grpSpPr>
        <a:xfrm>
          <a:off x="0" y="0"/>
          <a:ext cx="0" cy="0"/>
          <a:chOff x="0" y="0"/>
          <a:chExt cx="0" cy="0"/>
        </a:xfrm>
      </p:grpSpPr>
      <p:sp>
        <p:nvSpPr>
          <p:cNvPr id="163" name="text-0"/>
          <p:cNvSpPr txBox="1"/>
          <p:nvPr/>
        </p:nvSpPr>
        <p:spPr>
          <a:xfrm>
            <a:off x="609600" y="457200"/>
            <a:ext cx="109728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7233D"/>
                </a:solidFill>
                <a:latin typeface="DejaVu Sans"/>
                <a:ea typeface="DejaVu Sans"/>
                <a:cs typeface="DejaVu Sans"/>
                <a:sym typeface="DejaVu Sans"/>
              </a:defRPr>
            </a:lvl1pPr>
          </a:lstStyle>
          <a:p>
            <a:pPr/>
            <a:r>
              <a:t>Что команда делает дальше</a:t>
            </a:r>
          </a:p>
        </p:txBody>
      </p:sp>
      <p:sp>
        <p:nvSpPr>
          <p:cNvPr id="164" name="text-1"/>
          <p:cNvSpPr txBox="1"/>
          <p:nvPr/>
        </p:nvSpPr>
        <p:spPr>
          <a:xfrm>
            <a:off x="609600" y="1257300"/>
            <a:ext cx="10858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66279"/>
                </a:solidFill>
                <a:latin typeface="DejaVu Sans"/>
                <a:ea typeface="DejaVu Sans"/>
                <a:cs typeface="DejaVu Sans"/>
                <a:sym typeface="DejaVu Sans"/>
              </a:defRPr>
            </a:lvl1pPr>
          </a:lstStyle>
          <a:p>
            <a:pPr/>
            <a:r>
              <a:t>Последовательность юридической подготовки проекта к публичному запуску</a:t>
            </a:r>
          </a:p>
        </p:txBody>
      </p:sp>
      <p:sp>
        <p:nvSpPr>
          <p:cNvPr id="165" name="text-2"/>
          <p:cNvSpPr txBox="1"/>
          <p:nvPr/>
        </p:nvSpPr>
        <p:spPr>
          <a:xfrm>
            <a:off x="10991850" y="6343650"/>
            <a:ext cx="5905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66279"/>
                </a:solidFill>
                <a:latin typeface="DejaVu Sans"/>
                <a:ea typeface="DejaVu Sans"/>
                <a:cs typeface="DejaVu Sans"/>
                <a:sym typeface="DejaVu Sans"/>
              </a:defRPr>
            </a:lvl1pPr>
          </a:lstStyle>
          <a:p>
            <a:pPr/>
            <a:r>
              <a:t>10</a:t>
            </a:r>
          </a:p>
        </p:txBody>
      </p:sp>
      <p:sp>
        <p:nvSpPr>
          <p:cNvPr id="166" name="text-3"/>
          <p:cNvSpPr txBox="1"/>
          <p:nvPr/>
        </p:nvSpPr>
        <p:spPr>
          <a:xfrm>
            <a:off x="609600" y="2066925"/>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01</a:t>
            </a:r>
          </a:p>
        </p:txBody>
      </p:sp>
      <p:sp>
        <p:nvSpPr>
          <p:cNvPr id="167" name="text-4"/>
          <p:cNvSpPr txBox="1"/>
          <p:nvPr/>
        </p:nvSpPr>
        <p:spPr>
          <a:xfrm>
            <a:off x="1276350" y="2066925"/>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Согласовать правила команды</a:t>
            </a:r>
          </a:p>
        </p:txBody>
      </p:sp>
      <p:sp>
        <p:nvSpPr>
          <p:cNvPr id="168" name="text-5"/>
          <p:cNvSpPr txBox="1"/>
          <p:nvPr/>
        </p:nvSpPr>
        <p:spPr>
          <a:xfrm>
            <a:off x="1276350" y="2524125"/>
            <a:ext cx="9810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Утвердить доли, директора, вклады и порядок решений. Подписать соглашение.</a:t>
            </a:r>
          </a:p>
        </p:txBody>
      </p:sp>
      <p:sp>
        <p:nvSpPr>
          <p:cNvPr id="169" name="text-6"/>
          <p:cNvSpPr txBox="1"/>
          <p:nvPr/>
        </p:nvSpPr>
        <p:spPr>
          <a:xfrm>
            <a:off x="609600" y="3286125"/>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02</a:t>
            </a:r>
          </a:p>
        </p:txBody>
      </p:sp>
      <p:sp>
        <p:nvSpPr>
          <p:cNvPr id="170" name="text-7"/>
          <p:cNvSpPr txBox="1"/>
          <p:nvPr/>
        </p:nvSpPr>
        <p:spPr>
          <a:xfrm>
            <a:off x="1276350" y="3286125"/>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Создать ООО и оформить права</a:t>
            </a:r>
          </a:p>
        </p:txBody>
      </p:sp>
      <p:sp>
        <p:nvSpPr>
          <p:cNvPr id="171" name="text-8"/>
          <p:cNvSpPr txBox="1"/>
          <p:nvPr/>
        </p:nvSpPr>
        <p:spPr>
          <a:xfrm>
            <a:off x="1276350" y="3743325"/>
            <a:ext cx="9810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Зарегистрировать компанию, передать собственные разработки, проверить лицензии.</a:t>
            </a:r>
          </a:p>
        </p:txBody>
      </p:sp>
      <p:sp>
        <p:nvSpPr>
          <p:cNvPr id="172" name="text-9"/>
          <p:cNvSpPr txBox="1"/>
          <p:nvPr/>
        </p:nvSpPr>
        <p:spPr>
          <a:xfrm>
            <a:off x="609600" y="4505325"/>
            <a:ext cx="5238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4466D8"/>
                </a:solidFill>
                <a:latin typeface="DejaVu Sans"/>
                <a:ea typeface="DejaVu Sans"/>
                <a:cs typeface="DejaVu Sans"/>
                <a:sym typeface="DejaVu Sans"/>
              </a:defRPr>
            </a:lvl1pPr>
          </a:lstStyle>
          <a:p>
            <a:pPr/>
            <a:r>
              <a:t>03</a:t>
            </a:r>
          </a:p>
        </p:txBody>
      </p:sp>
      <p:sp>
        <p:nvSpPr>
          <p:cNvPr id="173" name="text-10"/>
          <p:cNvSpPr txBox="1"/>
          <p:nvPr/>
        </p:nvSpPr>
        <p:spPr>
          <a:xfrm>
            <a:off x="1276350" y="4505325"/>
            <a:ext cx="98107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7233D"/>
                </a:solidFill>
                <a:latin typeface="DejaVu Sans"/>
                <a:ea typeface="DejaVu Sans"/>
                <a:cs typeface="DejaVu Sans"/>
                <a:sym typeface="DejaVu Sans"/>
              </a:defRPr>
            </a:lvl1pPr>
          </a:lstStyle>
          <a:p>
            <a:pPr/>
            <a:r>
              <a:t>Подготовить запуск</a:t>
            </a:r>
          </a:p>
        </p:txBody>
      </p:sp>
      <p:sp>
        <p:nvSpPr>
          <p:cNvPr id="174" name="text-11"/>
          <p:cNvSpPr txBox="1"/>
          <p:nvPr/>
        </p:nvSpPr>
        <p:spPr>
          <a:xfrm>
            <a:off x="1276350" y="4962525"/>
            <a:ext cx="9810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66279"/>
                </a:solidFill>
                <a:latin typeface="DejaVu Sans"/>
                <a:ea typeface="DejaVu Sans"/>
                <a:cs typeface="DejaVu Sans"/>
                <a:sym typeface="DejaVu Sans"/>
              </a:defRPr>
            </a:lvl1pPr>
          </a:lstStyle>
          <a:p>
            <a:pPr/>
            <a:r>
              <a:t>Проверить бренд, оформить документы для пользователей и обработку данных.</a:t>
            </a:r>
          </a:p>
        </p:txBody>
      </p:sp>
      <p:sp>
        <p:nvSpPr>
          <p:cNvPr id="175" name="text-12"/>
          <p:cNvSpPr txBox="1"/>
          <p:nvPr/>
        </p:nvSpPr>
        <p:spPr>
          <a:xfrm>
            <a:off x="1276350" y="5838825"/>
            <a:ext cx="1019175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900">
                <a:solidFill>
                  <a:srgbClr val="4466D8"/>
                </a:solidFill>
                <a:latin typeface="DejaVu Sans"/>
                <a:ea typeface="DejaVu Sans"/>
                <a:cs typeface="DejaVu Sans"/>
                <a:sym typeface="DejaVu Sans"/>
              </a:defRPr>
            </a:pPr>
            <a:r>
              <a:t>Результат: понятные права на продукт, правила работы команды</a:t>
            </a:r>
          </a:p>
          <a:p>
            <a:pPr>
              <a:defRPr b="1" sz="1900">
                <a:solidFill>
                  <a:srgbClr val="4466D8"/>
                </a:solidFill>
                <a:latin typeface="DejaVu Sans"/>
                <a:ea typeface="DejaVu Sans"/>
                <a:cs typeface="DejaVu Sans"/>
                <a:sym typeface="DejaVu Sans"/>
              </a:defRPr>
            </a:pPr>
            <a:r>
              <a:t>и условия использования ассистента.</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