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Montserrat"/>
      <p:regular r:id="rId14"/>
    </p:embeddedFont>
    <p:embeddedFont>
      <p:font typeface="Inter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font" Target="fonts/rId14.fntdata"/><Relationship Id="rId15" Type="http://schemas.openxmlformats.org/officeDocument/2006/relationships/font" Target="fonts/rId1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9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8750" y="-762000"/>
            <a:ext cx="4667250" cy="4667250"/>
          </a:xfrm>
          <a:prstGeom prst="ellipse">
            <a:avLst/>
          </a:prstGeom>
          <a:solidFill>
            <a:srgbClr val="FFFFFF">
              <a:alpha val="9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76250" y="361950"/>
            <a:ext cx="42862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ПРАКТИЧЕСКОЕ ЗАНЯТИЕ №9 · ЗАДАНИЕ №1</a:t>
            </a:r>
            <a:endParaRPr lang="en-US" sz="499" dirty="0"/>
          </a:p>
        </p:txBody>
      </p:sp>
      <p:sp>
        <p:nvSpPr>
          <p:cNvPr id="4" name="Text 2"/>
          <p:cNvSpPr/>
          <p:nvPr/>
        </p:nvSpPr>
        <p:spPr>
          <a:xfrm>
            <a:off x="476250" y="809625"/>
            <a:ext cx="4476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20"/>
              </a:lnSpc>
              <a:buNone/>
            </a:pPr>
            <a:r>
              <a:rPr lang="en-US" sz="3135" b="1" spc="-53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</a:t>
            </a:r>
            <a:endParaRPr lang="en-US" sz="3135" dirty="0"/>
          </a:p>
          <a:p>
            <a:pPr algn="l" indent="0" marL="0">
              <a:lnSpc>
                <a:spcPts val="3420"/>
              </a:lnSpc>
              <a:buNone/>
            </a:pPr>
            <a:r>
              <a:rPr lang="en-US" sz="3135" b="1" spc="-53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конкуренция</a:t>
            </a:r>
            <a:endParaRPr lang="en-US" sz="3135" dirty="0"/>
          </a:p>
        </p:txBody>
      </p:sp>
      <p:sp>
        <p:nvSpPr>
          <p:cNvPr id="5" name="Text 3"/>
          <p:cNvSpPr/>
          <p:nvPr/>
        </p:nvSpPr>
        <p:spPr>
          <a:xfrm>
            <a:off x="500063" y="1928813"/>
            <a:ext cx="4286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Принятие решений и анализ рисков для стартапа «Пятница»</a:t>
            </a:r>
            <a:endParaRPr lang="en-US" sz="85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0063" y="2476500"/>
            <a:ext cx="481012" cy="17145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34000" y="809625"/>
            <a:ext cx="3333750" cy="3333750"/>
          </a:xfrm>
          <a:prstGeom prst="roundRect">
            <a:avLst>
              <a:gd name="adj" fmla="val 877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5553075" y="1038225"/>
            <a:ext cx="2905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РЫНОЧНАЯ СИТУАЦИЯ</a:t>
            </a:r>
            <a:endParaRPr lang="en-US" sz="499" dirty="0"/>
          </a:p>
        </p:txBody>
      </p:sp>
      <p:sp>
        <p:nvSpPr>
          <p:cNvPr id="9" name="Text 6"/>
          <p:cNvSpPr/>
          <p:nvPr/>
        </p:nvSpPr>
        <p:spPr>
          <a:xfrm>
            <a:off x="5553075" y="1547813"/>
            <a:ext cx="1190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3A98D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Пятница</a:t>
            </a:r>
            <a:endParaRPr lang="en-US" sz="1283" dirty="0"/>
          </a:p>
        </p:txBody>
      </p:sp>
      <p:sp>
        <p:nvSpPr>
          <p:cNvPr id="10" name="Text 7"/>
          <p:cNvSpPr/>
          <p:nvPr/>
        </p:nvSpPr>
        <p:spPr>
          <a:xfrm>
            <a:off x="6572250" y="2095500"/>
            <a:ext cx="8572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34"/>
              </a:lnSpc>
              <a:buNone/>
            </a:pPr>
            <a:r>
              <a:rPr lang="en-US" sz="3420" b="1" spc="-71" kern="0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VS</a:t>
            </a:r>
            <a:endParaRPr lang="en-US" sz="3420" dirty="0"/>
          </a:p>
        </p:txBody>
      </p:sp>
      <p:sp>
        <p:nvSpPr>
          <p:cNvPr id="11" name="Text 8"/>
          <p:cNvSpPr/>
          <p:nvPr/>
        </p:nvSpPr>
        <p:spPr>
          <a:xfrm>
            <a:off x="7191375" y="2809875"/>
            <a:ext cx="1238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Крупный</a:t>
            </a:r>
            <a:endParaRPr lang="en-US" sz="1283" dirty="0"/>
          </a:p>
          <a:p>
            <a:pPr algn="r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конкурент</a:t>
            </a:r>
            <a:endParaRPr lang="en-US" sz="1283" dirty="0"/>
          </a:p>
        </p:txBody>
      </p:sp>
      <p:sp>
        <p:nvSpPr>
          <p:cNvPr id="12" name="Text 9"/>
          <p:cNvSpPr/>
          <p:nvPr/>
        </p:nvSpPr>
        <p:spPr>
          <a:xfrm>
            <a:off x="5553075" y="3714750"/>
            <a:ext cx="29051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Побеждаем не бюджетом, а фокусом и отличием продукта.</a:t>
            </a:r>
            <a:endParaRPr lang="en-US" sz="641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6250" y="4286250"/>
            <a:ext cx="1428750" cy="628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276225"/>
            <a:ext cx="2857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/ СИТУАЦИЯ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28625" y="523875"/>
            <a:ext cx="785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рынок выходит игрок с большими ресурсами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976312"/>
            <a:ext cx="7858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 него похожий продукт, сильный маркетинг и возможность быстрее захватывать аудиторию.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428625" y="1524000"/>
            <a:ext cx="3333750" cy="2714625"/>
          </a:xfrm>
          <a:prstGeom prst="roundRect">
            <a:avLst>
              <a:gd name="adj" fmla="val 9432"/>
            </a:avLst>
          </a:prstGeom>
          <a:solidFill>
            <a:srgbClr val="3A98D8"/>
          </a:solidFill>
          <a:ln/>
        </p:spPr>
      </p:sp>
      <p:sp>
        <p:nvSpPr>
          <p:cNvPr id="6" name="Text 4"/>
          <p:cNvSpPr/>
          <p:nvPr/>
        </p:nvSpPr>
        <p:spPr>
          <a:xfrm>
            <a:off x="628650" y="1704975"/>
            <a:ext cx="29051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ГЛАВНАЯ ПРОБЛЕМА</a:t>
            </a:r>
            <a:endParaRPr lang="en-US" sz="499" dirty="0"/>
          </a:p>
        </p:txBody>
      </p:sp>
      <p:sp>
        <p:nvSpPr>
          <p:cNvPr id="7" name="Text 5"/>
          <p:cNvSpPr/>
          <p:nvPr/>
        </p:nvSpPr>
        <p:spPr>
          <a:xfrm>
            <a:off x="628650" y="2095500"/>
            <a:ext cx="29051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Стартап не может победить конкурента размером бюджета</a:t>
            </a:r>
            <a:endParaRPr lang="en-US" sz="1283" dirty="0"/>
          </a:p>
        </p:txBody>
      </p:sp>
      <p:sp>
        <p:nvSpPr>
          <p:cNvPr id="8" name="Text 6"/>
          <p:cNvSpPr/>
          <p:nvPr/>
        </p:nvSpPr>
        <p:spPr>
          <a:xfrm>
            <a:off x="628650" y="2952750"/>
            <a:ext cx="29051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Если копировать его стратегию, «Пятница» быстрее потратит ограниченные ресурсы и потеряет собственное позиционирование.</a:t>
            </a:r>
            <a:endParaRPr lang="en-US" sz="85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91000" y="1524000"/>
            <a:ext cx="4210050" cy="8763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191000" y="2428875"/>
            <a:ext cx="4210050" cy="10668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91000" y="3524250"/>
            <a:ext cx="4210050" cy="876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191000" y="4429125"/>
            <a:ext cx="4286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Нужно выбрать поле, где преимущества крупного конкурента перестают быть решающими.</a:t>
            </a:r>
            <a:endParaRPr lang="en-US" sz="92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276225"/>
            <a:ext cx="2857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/ SWOT-АНАЛИЗ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28625" y="523875"/>
            <a:ext cx="785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помогает и что мешает конкурировать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976312"/>
            <a:ext cx="714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Оцениваем внутренние особенности проекта и внешнюю ситуацию на рынке.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428625" y="1476375"/>
            <a:ext cx="3905250" cy="1428750"/>
          </a:xfrm>
          <a:prstGeom prst="roundRect">
            <a:avLst>
              <a:gd name="adj" fmla="val 15360"/>
            </a:avLst>
          </a:prstGeom>
          <a:solidFill>
            <a:srgbClr val="3A98D8"/>
          </a:solidFill>
          <a:ln/>
        </p:spPr>
      </p:sp>
      <p:sp>
        <p:nvSpPr>
          <p:cNvPr id="6" name="Text 4"/>
          <p:cNvSpPr/>
          <p:nvPr/>
        </p:nvSpPr>
        <p:spPr>
          <a:xfrm>
            <a:off x="590550" y="1619250"/>
            <a:ext cx="3571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 · СИЛЬНЫЕ СТОРОНЫ</a:t>
            </a:r>
            <a:endParaRPr lang="en-US" sz="926" dirty="0"/>
          </a:p>
        </p:txBody>
      </p:sp>
      <p:sp>
        <p:nvSpPr>
          <p:cNvPr id="7" name="Text 5"/>
          <p:cNvSpPr/>
          <p:nvPr/>
        </p:nvSpPr>
        <p:spPr>
          <a:xfrm>
            <a:off x="590550" y="1976438"/>
            <a:ext cx="35718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Работающий alpha-MVP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Windows и Computer Use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Голосовой режим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Компетенции команды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4762500" y="1476375"/>
            <a:ext cx="3905250" cy="1428750"/>
          </a:xfrm>
          <a:prstGeom prst="roundRect">
            <a:avLst>
              <a:gd name="adj" fmla="val 1536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4425" y="1619250"/>
            <a:ext cx="3571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 · СЛАБЫЕ СТОРОНЫ</a:t>
            </a:r>
            <a:endParaRPr lang="en-US" sz="926" dirty="0"/>
          </a:p>
        </p:txBody>
      </p:sp>
      <p:sp>
        <p:nvSpPr>
          <p:cNvPr id="10" name="Text 8"/>
          <p:cNvSpPr/>
          <p:nvPr/>
        </p:nvSpPr>
        <p:spPr>
          <a:xfrm>
            <a:off x="4924425" y="1976438"/>
            <a:ext cx="35718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Ограниченный бюджет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 узнаваемость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Мало проверенных каналов продвижения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Непроверенная монетизация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428625" y="3143250"/>
            <a:ext cx="3905250" cy="1428750"/>
          </a:xfrm>
          <a:prstGeom prst="roundRect">
            <a:avLst>
              <a:gd name="adj" fmla="val 1536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0550" y="3286125"/>
            <a:ext cx="3571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 · ВОЗМОЖНОСТИ</a:t>
            </a:r>
            <a:endParaRPr lang="en-US" sz="926" dirty="0"/>
          </a:p>
        </p:txBody>
      </p:sp>
      <p:sp>
        <p:nvSpPr>
          <p:cNvPr id="13" name="Text 11"/>
          <p:cNvSpPr/>
          <p:nvPr/>
        </p:nvSpPr>
        <p:spPr>
          <a:xfrm>
            <a:off x="590550" y="3643313"/>
            <a:ext cx="35718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Фокус на разработчиках и power users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Нишевые сообщества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Быстрые продуктовые эксперименты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Персональные сценарии Windows</a:t>
            </a:r>
            <a:endParaRPr lang="en-US" sz="855" dirty="0"/>
          </a:p>
        </p:txBody>
      </p:sp>
      <p:sp>
        <p:nvSpPr>
          <p:cNvPr id="14" name="Shape 12"/>
          <p:cNvSpPr/>
          <p:nvPr/>
        </p:nvSpPr>
        <p:spPr>
          <a:xfrm>
            <a:off x="4762500" y="3143250"/>
            <a:ext cx="3905250" cy="1428750"/>
          </a:xfrm>
          <a:prstGeom prst="roundRect">
            <a:avLst>
              <a:gd name="adj" fmla="val 15360"/>
            </a:avLst>
          </a:prstGeom>
          <a:solidFill>
            <a:srgbClr val="755BC8"/>
          </a:solidFill>
          <a:ln/>
        </p:spPr>
      </p:sp>
      <p:sp>
        <p:nvSpPr>
          <p:cNvPr id="15" name="Text 13"/>
          <p:cNvSpPr/>
          <p:nvPr/>
        </p:nvSpPr>
        <p:spPr>
          <a:xfrm>
            <a:off x="4924425" y="3286125"/>
            <a:ext cx="3571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 · УГРОЗЫ</a:t>
            </a:r>
            <a:endParaRPr lang="en-US" sz="926" dirty="0"/>
          </a:p>
        </p:txBody>
      </p:sp>
      <p:sp>
        <p:nvSpPr>
          <p:cNvPr id="16" name="Text 14"/>
          <p:cNvSpPr/>
          <p:nvPr/>
        </p:nvSpPr>
        <p:spPr>
          <a:xfrm>
            <a:off x="4924425" y="3643313"/>
            <a:ext cx="357187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Маркетинговое давление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Копирование функций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Ценовая конкуренция</a:t>
            </a:r>
            <a:endParaRPr lang="en-US" sz="855" dirty="0"/>
          </a:p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Более быстрый рост крупного игрока</a:t>
            </a:r>
            <a:endParaRPr lang="en-US" sz="85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276225"/>
            <a:ext cx="2857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 / АЛЬТЕРНАТИВЫ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28625" y="523875"/>
            <a:ext cx="785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Четыре возможных ответа конкуренту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976312"/>
            <a:ext cx="73818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Сравниваем решения по стоимости, скорости и способности отличить продукт.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428625" y="1524000"/>
            <a:ext cx="3905250" cy="133350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0550" y="16668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1119188" y="1690688"/>
            <a:ext cx="2952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Конкурировать напрямую</a:t>
            </a:r>
            <a:endParaRPr lang="en-US" sz="926" dirty="0"/>
          </a:p>
        </p:txBody>
      </p:sp>
      <p:sp>
        <p:nvSpPr>
          <p:cNvPr id="8" name="Text 6"/>
          <p:cNvSpPr/>
          <p:nvPr/>
        </p:nvSpPr>
        <p:spPr>
          <a:xfrm>
            <a:off x="590550" y="2095500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Увеличить рекламу и повторять функции конкурента.</a:t>
            </a:r>
            <a:endParaRPr lang="en-US" sz="641" dirty="0"/>
          </a:p>
        </p:txBody>
      </p:sp>
      <p:sp>
        <p:nvSpPr>
          <p:cNvPr id="9" name="Text 7"/>
          <p:cNvSpPr/>
          <p:nvPr/>
        </p:nvSpPr>
        <p:spPr>
          <a:xfrm>
            <a:off x="590550" y="2524125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Слишком дорого для стартапа.</a:t>
            </a:r>
            <a:endParaRPr lang="en-US" sz="641" dirty="0"/>
          </a:p>
        </p:txBody>
      </p:sp>
      <p:sp>
        <p:nvSpPr>
          <p:cNvPr id="10" name="Shape 8"/>
          <p:cNvSpPr/>
          <p:nvPr/>
        </p:nvSpPr>
        <p:spPr>
          <a:xfrm>
            <a:off x="4762500" y="1524000"/>
            <a:ext cx="3905250" cy="1333500"/>
          </a:xfrm>
          <a:prstGeom prst="roundRect">
            <a:avLst>
              <a:gd name="adj" fmla="val 16457"/>
            </a:avLst>
          </a:prstGeom>
          <a:solidFill>
            <a:srgbClr val="3A98D8"/>
          </a:solidFill>
          <a:ln/>
        </p:spPr>
      </p:sp>
      <p:sp>
        <p:nvSpPr>
          <p:cNvPr id="11" name="Text 9"/>
          <p:cNvSpPr/>
          <p:nvPr/>
        </p:nvSpPr>
        <p:spPr>
          <a:xfrm>
            <a:off x="4924425" y="1666875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5453063" y="1690688"/>
            <a:ext cx="2952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Сфокусироваться на нише</a:t>
            </a:r>
            <a:endParaRPr lang="en-US" sz="926" dirty="0"/>
          </a:p>
        </p:txBody>
      </p:sp>
      <p:sp>
        <p:nvSpPr>
          <p:cNvPr id="13" name="Text 11"/>
          <p:cNvSpPr/>
          <p:nvPr/>
        </p:nvSpPr>
        <p:spPr>
          <a:xfrm>
            <a:off x="4924425" y="2095500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Выбрать аудиторию, которой особенно важно управление Windows.</a:t>
            </a:r>
            <a:endParaRPr lang="en-US" sz="641" dirty="0"/>
          </a:p>
        </p:txBody>
      </p:sp>
      <p:sp>
        <p:nvSpPr>
          <p:cNvPr id="14" name="Text 12"/>
          <p:cNvSpPr/>
          <p:nvPr/>
        </p:nvSpPr>
        <p:spPr>
          <a:xfrm>
            <a:off x="4924425" y="2524125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Лучший баланс риска и результата.</a:t>
            </a:r>
            <a:endParaRPr lang="en-US" sz="641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10500" y="2500313"/>
            <a:ext cx="490538" cy="17145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28625" y="3095625"/>
            <a:ext cx="3905250" cy="133350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0550" y="32385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283" dirty="0"/>
          </a:p>
        </p:txBody>
      </p:sp>
      <p:sp>
        <p:nvSpPr>
          <p:cNvPr id="18" name="Text 15"/>
          <p:cNvSpPr/>
          <p:nvPr/>
        </p:nvSpPr>
        <p:spPr>
          <a:xfrm>
            <a:off x="1119188" y="3262313"/>
            <a:ext cx="2952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Искать партнёрство</a:t>
            </a:r>
            <a:endParaRPr lang="en-US" sz="926" dirty="0"/>
          </a:p>
        </p:txBody>
      </p:sp>
      <p:sp>
        <p:nvSpPr>
          <p:cNvPr id="19" name="Text 16"/>
          <p:cNvSpPr/>
          <p:nvPr/>
        </p:nvSpPr>
        <p:spPr>
          <a:xfrm>
            <a:off x="590550" y="3667125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Интегрироваться с другими сервисами и получать доступ к их аудитории.</a:t>
            </a:r>
            <a:endParaRPr lang="en-US" sz="641" dirty="0"/>
          </a:p>
        </p:txBody>
      </p:sp>
      <p:sp>
        <p:nvSpPr>
          <p:cNvPr id="20" name="Text 17"/>
          <p:cNvSpPr/>
          <p:nvPr/>
        </p:nvSpPr>
        <p:spPr>
          <a:xfrm>
            <a:off x="590550" y="4095750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Полезно, но создаёт зависимость.</a:t>
            </a:r>
            <a:endParaRPr lang="en-US" sz="641" dirty="0"/>
          </a:p>
        </p:txBody>
      </p:sp>
      <p:sp>
        <p:nvSpPr>
          <p:cNvPr id="21" name="Shape 18"/>
          <p:cNvSpPr/>
          <p:nvPr/>
        </p:nvSpPr>
        <p:spPr>
          <a:xfrm>
            <a:off x="4762500" y="3095625"/>
            <a:ext cx="3905250" cy="1333500"/>
          </a:xfrm>
          <a:prstGeom prst="roundRect">
            <a:avLst>
              <a:gd name="adj" fmla="val 16457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24425" y="3238500"/>
            <a:ext cx="47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283" dirty="0"/>
          </a:p>
        </p:txBody>
      </p:sp>
      <p:sp>
        <p:nvSpPr>
          <p:cNvPr id="23" name="Text 20"/>
          <p:cNvSpPr/>
          <p:nvPr/>
        </p:nvSpPr>
        <p:spPr>
          <a:xfrm>
            <a:off x="5453063" y="3262313"/>
            <a:ext cx="2952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Отложить развитие</a:t>
            </a:r>
            <a:endParaRPr lang="en-US" sz="926" dirty="0"/>
          </a:p>
        </p:txBody>
      </p:sp>
      <p:sp>
        <p:nvSpPr>
          <p:cNvPr id="24" name="Text 21"/>
          <p:cNvSpPr/>
          <p:nvPr/>
        </p:nvSpPr>
        <p:spPr>
          <a:xfrm>
            <a:off x="4924425" y="3667125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Пересобрать продукт и дождаться более подходящего момента.</a:t>
            </a:r>
            <a:endParaRPr lang="en-US" sz="641" dirty="0"/>
          </a:p>
        </p:txBody>
      </p:sp>
      <p:sp>
        <p:nvSpPr>
          <p:cNvPr id="25" name="Text 22"/>
          <p:cNvSpPr/>
          <p:nvPr/>
        </p:nvSpPr>
        <p:spPr>
          <a:xfrm>
            <a:off x="4924425" y="4095750"/>
            <a:ext cx="34766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Снижает темп и отдаёт рынок.</a:t>
            </a:r>
            <a:endParaRPr lang="en-US" sz="64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276225"/>
            <a:ext cx="3333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 / МАТРИЦА РИСКОВ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28625" y="523875"/>
            <a:ext cx="809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Какие угрозы требуют внимания в первую очередь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976312"/>
            <a:ext cx="5715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Оценка качественная: вероятность × влияние на проект.</a:t>
            </a:r>
            <a:endParaRPr lang="en-US" sz="855" dirty="0"/>
          </a:p>
        </p:txBody>
      </p:sp>
      <p:sp>
        <p:nvSpPr>
          <p:cNvPr id="5" name="Text 3"/>
          <p:cNvSpPr/>
          <p:nvPr/>
        </p:nvSpPr>
        <p:spPr>
          <a:xfrm>
            <a:off x="428625" y="1390650"/>
            <a:ext cx="50006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ВЛИЯНИЕ →</a:t>
            </a:r>
            <a:endParaRPr lang="en-US" sz="499" dirty="0"/>
          </a:p>
        </p:txBody>
      </p:sp>
      <p:sp>
        <p:nvSpPr>
          <p:cNvPr id="6" name="Text 4"/>
          <p:cNvSpPr/>
          <p:nvPr/>
        </p:nvSpPr>
        <p:spPr>
          <a:xfrm>
            <a:off x="714375" y="1562100"/>
            <a:ext cx="12382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Низкое</a:t>
            </a:r>
            <a:endParaRPr lang="en-US" sz="499" dirty="0"/>
          </a:p>
        </p:txBody>
      </p:sp>
      <p:sp>
        <p:nvSpPr>
          <p:cNvPr id="7" name="Text 5"/>
          <p:cNvSpPr/>
          <p:nvPr/>
        </p:nvSpPr>
        <p:spPr>
          <a:xfrm>
            <a:off x="2333625" y="1562100"/>
            <a:ext cx="12382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Среднее</a:t>
            </a:r>
            <a:endParaRPr lang="en-US" sz="499" dirty="0"/>
          </a:p>
        </p:txBody>
      </p:sp>
      <p:sp>
        <p:nvSpPr>
          <p:cNvPr id="8" name="Text 6"/>
          <p:cNvSpPr/>
          <p:nvPr/>
        </p:nvSpPr>
        <p:spPr>
          <a:xfrm>
            <a:off x="3952875" y="1562100"/>
            <a:ext cx="12382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Высокое</a:t>
            </a:r>
            <a:endParaRPr lang="en-US" sz="499" dirty="0"/>
          </a:p>
        </p:txBody>
      </p:sp>
      <p:sp>
        <p:nvSpPr>
          <p:cNvPr id="9" name="Shape 7"/>
          <p:cNvSpPr/>
          <p:nvPr/>
        </p:nvSpPr>
        <p:spPr>
          <a:xfrm>
            <a:off x="428625" y="180975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875" y="206692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926" dirty="0"/>
          </a:p>
        </p:txBody>
      </p:sp>
      <p:sp>
        <p:nvSpPr>
          <p:cNvPr id="11" name="Shape 9"/>
          <p:cNvSpPr/>
          <p:nvPr/>
        </p:nvSpPr>
        <p:spPr>
          <a:xfrm>
            <a:off x="2047875" y="180975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3125" y="206692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926" dirty="0"/>
          </a:p>
        </p:txBody>
      </p:sp>
      <p:sp>
        <p:nvSpPr>
          <p:cNvPr id="13" name="Shape 11"/>
          <p:cNvSpPr/>
          <p:nvPr/>
        </p:nvSpPr>
        <p:spPr>
          <a:xfrm>
            <a:off x="3667125" y="180975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755BC8"/>
          </a:solidFill>
          <a:ln/>
        </p:spPr>
      </p:sp>
      <p:sp>
        <p:nvSpPr>
          <p:cNvPr id="14" name="Text 12"/>
          <p:cNvSpPr/>
          <p:nvPr/>
        </p:nvSpPr>
        <p:spPr>
          <a:xfrm>
            <a:off x="3762375" y="206692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R1 · R2</a:t>
            </a:r>
            <a:endParaRPr lang="en-US" sz="926" dirty="0"/>
          </a:p>
        </p:txBody>
      </p:sp>
      <p:sp>
        <p:nvSpPr>
          <p:cNvPr id="15" name="Shape 13"/>
          <p:cNvSpPr/>
          <p:nvPr/>
        </p:nvSpPr>
        <p:spPr>
          <a:xfrm>
            <a:off x="428625" y="266700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875" y="292417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926" dirty="0"/>
          </a:p>
        </p:txBody>
      </p:sp>
      <p:sp>
        <p:nvSpPr>
          <p:cNvPr id="17" name="Shape 15"/>
          <p:cNvSpPr/>
          <p:nvPr/>
        </p:nvSpPr>
        <p:spPr>
          <a:xfrm>
            <a:off x="2047875" y="266700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1DABF8"/>
          </a:solidFill>
          <a:ln/>
        </p:spPr>
      </p:sp>
      <p:sp>
        <p:nvSpPr>
          <p:cNvPr id="18" name="Text 16"/>
          <p:cNvSpPr/>
          <p:nvPr/>
        </p:nvSpPr>
        <p:spPr>
          <a:xfrm>
            <a:off x="2143125" y="292417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R4</a:t>
            </a:r>
            <a:endParaRPr lang="en-US" sz="926" dirty="0"/>
          </a:p>
        </p:txBody>
      </p:sp>
      <p:sp>
        <p:nvSpPr>
          <p:cNvPr id="19" name="Shape 17"/>
          <p:cNvSpPr/>
          <p:nvPr/>
        </p:nvSpPr>
        <p:spPr>
          <a:xfrm>
            <a:off x="3667125" y="266700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3A98D8"/>
          </a:solidFill>
          <a:ln/>
        </p:spPr>
      </p:sp>
      <p:sp>
        <p:nvSpPr>
          <p:cNvPr id="20" name="Text 18"/>
          <p:cNvSpPr/>
          <p:nvPr/>
        </p:nvSpPr>
        <p:spPr>
          <a:xfrm>
            <a:off x="3762375" y="292417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R3</a:t>
            </a:r>
            <a:endParaRPr lang="en-US" sz="926" dirty="0"/>
          </a:p>
        </p:txBody>
      </p:sp>
      <p:sp>
        <p:nvSpPr>
          <p:cNvPr id="21" name="Shape 19"/>
          <p:cNvSpPr/>
          <p:nvPr/>
        </p:nvSpPr>
        <p:spPr>
          <a:xfrm>
            <a:off x="428625" y="352425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3875" y="378142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926" dirty="0"/>
          </a:p>
        </p:txBody>
      </p:sp>
      <p:sp>
        <p:nvSpPr>
          <p:cNvPr id="23" name="Shape 21"/>
          <p:cNvSpPr/>
          <p:nvPr/>
        </p:nvSpPr>
        <p:spPr>
          <a:xfrm>
            <a:off x="2047875" y="352425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3125" y="378142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R5</a:t>
            </a:r>
            <a:endParaRPr lang="en-US" sz="926" dirty="0"/>
          </a:p>
        </p:txBody>
      </p:sp>
      <p:sp>
        <p:nvSpPr>
          <p:cNvPr id="25" name="Shape 23"/>
          <p:cNvSpPr/>
          <p:nvPr/>
        </p:nvSpPr>
        <p:spPr>
          <a:xfrm>
            <a:off x="3667125" y="3524250"/>
            <a:ext cx="1524000" cy="762000"/>
          </a:xfrm>
          <a:prstGeom prst="roundRect">
            <a:avLst>
              <a:gd name="adj" fmla="val 2160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62375" y="3781425"/>
            <a:ext cx="1333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</a:t>
            </a:r>
            <a:endParaRPr lang="en-US" sz="926" dirty="0"/>
          </a:p>
        </p:txBody>
      </p:sp>
      <p:sp>
        <p:nvSpPr>
          <p:cNvPr id="27" name="Text 25"/>
          <p:cNvSpPr/>
          <p:nvPr/>
        </p:nvSpPr>
        <p:spPr>
          <a:xfrm>
            <a:off x="5286375" y="2047875"/>
            <a:ext cx="571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Высокая</a:t>
            </a:r>
            <a:endParaRPr lang="en-US" sz="499" dirty="0"/>
          </a:p>
        </p:txBody>
      </p:sp>
      <p:sp>
        <p:nvSpPr>
          <p:cNvPr id="28" name="Text 26"/>
          <p:cNvSpPr/>
          <p:nvPr/>
        </p:nvSpPr>
        <p:spPr>
          <a:xfrm>
            <a:off x="5286375" y="2905125"/>
            <a:ext cx="571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Средняя</a:t>
            </a:r>
            <a:endParaRPr lang="en-US" sz="499" dirty="0"/>
          </a:p>
        </p:txBody>
      </p:sp>
      <p:sp>
        <p:nvSpPr>
          <p:cNvPr id="29" name="Text 27"/>
          <p:cNvSpPr/>
          <p:nvPr/>
        </p:nvSpPr>
        <p:spPr>
          <a:xfrm>
            <a:off x="5286375" y="3762375"/>
            <a:ext cx="571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6B728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Низкая</a:t>
            </a:r>
            <a:endParaRPr lang="en-US" sz="499" dirty="0"/>
          </a:p>
        </p:txBody>
      </p:sp>
      <p:sp>
        <p:nvSpPr>
          <p:cNvPr id="30" name="Shape 28"/>
          <p:cNvSpPr/>
          <p:nvPr/>
        </p:nvSpPr>
        <p:spPr>
          <a:xfrm>
            <a:off x="6000750" y="1476375"/>
            <a:ext cx="2714625" cy="3048000"/>
          </a:xfrm>
          <a:prstGeom prst="roundRect">
            <a:avLst>
              <a:gd name="adj" fmla="val 8084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53150" y="1619250"/>
            <a:ext cx="23812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КЛЮЧЕВЫЕ РИСКИ</a:t>
            </a:r>
            <a:endParaRPr lang="en-US" sz="499" dirty="0"/>
          </a:p>
        </p:txBody>
      </p:sp>
      <p:sp>
        <p:nvSpPr>
          <p:cNvPr id="32" name="Text 30"/>
          <p:cNvSpPr/>
          <p:nvPr/>
        </p:nvSpPr>
        <p:spPr>
          <a:xfrm>
            <a:off x="6153150" y="1952625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755BC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R1  Снижение притока пользователей</a:t>
            </a:r>
            <a:endParaRPr lang="en-US" sz="641" dirty="0"/>
          </a:p>
        </p:txBody>
      </p:sp>
      <p:sp>
        <p:nvSpPr>
          <p:cNvPr id="33" name="Text 31"/>
          <p:cNvSpPr/>
          <p:nvPr/>
        </p:nvSpPr>
        <p:spPr>
          <a:xfrm>
            <a:off x="6153150" y="2390775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755BC8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R2  Бесполезные расходы на рекламу</a:t>
            </a:r>
            <a:endParaRPr lang="en-US" sz="641" dirty="0"/>
          </a:p>
        </p:txBody>
      </p:sp>
      <p:sp>
        <p:nvSpPr>
          <p:cNvPr id="34" name="Text 32"/>
          <p:cNvSpPr/>
          <p:nvPr/>
        </p:nvSpPr>
        <p:spPr>
          <a:xfrm>
            <a:off x="6153150" y="2828925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R3  Копирование функций конкурентом</a:t>
            </a:r>
            <a:endParaRPr lang="en-US" sz="641" dirty="0"/>
          </a:p>
        </p:txBody>
      </p:sp>
      <p:sp>
        <p:nvSpPr>
          <p:cNvPr id="35" name="Text 33"/>
          <p:cNvSpPr/>
          <p:nvPr/>
        </p:nvSpPr>
        <p:spPr>
          <a:xfrm>
            <a:off x="6153150" y="3267075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R4  Слишком узкая ниша</a:t>
            </a:r>
            <a:endParaRPr lang="en-US" sz="641" dirty="0"/>
          </a:p>
        </p:txBody>
      </p:sp>
      <p:sp>
        <p:nvSpPr>
          <p:cNvPr id="36" name="Text 34"/>
          <p:cNvSpPr/>
          <p:nvPr/>
        </p:nvSpPr>
        <p:spPr>
          <a:xfrm>
            <a:off x="6153150" y="3705225"/>
            <a:ext cx="23812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b="1" dirty="0">
                <a:solidFill>
                  <a:srgbClr val="1E233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R5  Задержка из-за смены позиционирования</a:t>
            </a:r>
            <a:endParaRPr lang="en-US" sz="641" dirty="0"/>
          </a:p>
        </p:txBody>
      </p:sp>
      <p:sp>
        <p:nvSpPr>
          <p:cNvPr id="37" name="Text 35"/>
          <p:cNvSpPr/>
          <p:nvPr/>
        </p:nvSpPr>
        <p:spPr>
          <a:xfrm>
            <a:off x="6153150" y="4048125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Приоритет: сначала ограничить R1 и R2 — они одновременно наиболее вероятны и опасны.</a:t>
            </a:r>
            <a:endParaRPr lang="en-US" sz="64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276225"/>
            <a:ext cx="3333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 / ВЫБРАННОЕ РЕШЕНИЕ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28625" y="523875"/>
            <a:ext cx="809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конкурировать шириной. Победить точностью.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976312"/>
            <a:ext cx="78581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Стратегия нишевого фокуса снижает расход бюджета и усиливает реальные отличия продукта.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428625" y="1524000"/>
            <a:ext cx="8286750" cy="1190625"/>
          </a:xfrm>
          <a:prstGeom prst="roundRect">
            <a:avLst>
              <a:gd name="adj" fmla="val 21504"/>
            </a:avLst>
          </a:prstGeom>
          <a:solidFill>
            <a:srgbClr val="3A98D8"/>
          </a:solidFill>
          <a:ln/>
        </p:spPr>
      </p:sp>
      <p:sp>
        <p:nvSpPr>
          <p:cNvPr id="6" name="Text 4"/>
          <p:cNvSpPr/>
          <p:nvPr/>
        </p:nvSpPr>
        <p:spPr>
          <a:xfrm>
            <a:off x="657225" y="1800225"/>
            <a:ext cx="7810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68"/>
              </a:lnSpc>
              <a:buNone/>
            </a:pPr>
            <a:r>
              <a:rPr lang="en-US" sz="1283" b="1" spc="-11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«Пятница» — AI-ассистент, который не только отвечает, но и выполняет действия в Windows.</a:t>
            </a:r>
            <a:endParaRPr lang="en-US" sz="1283" dirty="0"/>
          </a:p>
        </p:txBody>
      </p:sp>
      <p:sp>
        <p:nvSpPr>
          <p:cNvPr id="7" name="Text 5"/>
          <p:cNvSpPr/>
          <p:nvPr/>
        </p:nvSpPr>
        <p:spPr>
          <a:xfrm>
            <a:off x="657225" y="2262188"/>
            <a:ext cx="78105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аудитория: разработчики, DevOps и активные пользователи Windows.</a:t>
            </a:r>
            <a:endParaRPr lang="en-US" sz="855" dirty="0"/>
          </a:p>
        </p:txBody>
      </p:sp>
      <p:sp>
        <p:nvSpPr>
          <p:cNvPr id="8" name="Shape 6"/>
          <p:cNvSpPr/>
          <p:nvPr/>
        </p:nvSpPr>
        <p:spPr>
          <a:xfrm>
            <a:off x="428625" y="3095625"/>
            <a:ext cx="2619375" cy="1190625"/>
          </a:xfrm>
          <a:prstGeom prst="roundRect">
            <a:avLst>
              <a:gd name="adj" fmla="val 18432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1025" y="3248025"/>
            <a:ext cx="2286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Фокус</a:t>
            </a:r>
            <a:endParaRPr lang="en-US" sz="926" dirty="0"/>
          </a:p>
        </p:txBody>
      </p:sp>
      <p:sp>
        <p:nvSpPr>
          <p:cNvPr id="10" name="Text 8"/>
          <p:cNvSpPr/>
          <p:nvPr/>
        </p:nvSpPr>
        <p:spPr>
          <a:xfrm>
            <a:off x="581025" y="3595688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весь рынок AI, а конкретные сценарии Windows.</a:t>
            </a:r>
            <a:endParaRPr lang="en-US" sz="855" dirty="0"/>
          </a:p>
        </p:txBody>
      </p:sp>
      <p:sp>
        <p:nvSpPr>
          <p:cNvPr id="11" name="Shape 9"/>
          <p:cNvSpPr/>
          <p:nvPr/>
        </p:nvSpPr>
        <p:spPr>
          <a:xfrm>
            <a:off x="3238500" y="3095625"/>
            <a:ext cx="2619375" cy="1190625"/>
          </a:xfrm>
          <a:prstGeom prst="roundRect">
            <a:avLst>
              <a:gd name="adj" fmla="val 18432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90900" y="3248025"/>
            <a:ext cx="2286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Отличие</a:t>
            </a:r>
            <a:endParaRPr lang="en-US" sz="926" dirty="0"/>
          </a:p>
        </p:txBody>
      </p:sp>
      <p:sp>
        <p:nvSpPr>
          <p:cNvPr id="13" name="Text 11"/>
          <p:cNvSpPr/>
          <p:nvPr/>
        </p:nvSpPr>
        <p:spPr>
          <a:xfrm>
            <a:off x="3390900" y="3595688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Use, голос и управление несколькими ПК.</a:t>
            </a:r>
            <a:endParaRPr lang="en-US" sz="855" dirty="0"/>
          </a:p>
        </p:txBody>
      </p:sp>
      <p:sp>
        <p:nvSpPr>
          <p:cNvPr id="14" name="Shape 12"/>
          <p:cNvSpPr/>
          <p:nvPr/>
        </p:nvSpPr>
        <p:spPr>
          <a:xfrm>
            <a:off x="6048375" y="3095625"/>
            <a:ext cx="2619375" cy="1190625"/>
          </a:xfrm>
          <a:prstGeom prst="roundRect">
            <a:avLst>
              <a:gd name="adj" fmla="val 18432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0775" y="3248025"/>
            <a:ext cx="22860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</a:t>
            </a:r>
            <a:endParaRPr lang="en-US" sz="926" dirty="0"/>
          </a:p>
        </p:txBody>
      </p:sp>
      <p:sp>
        <p:nvSpPr>
          <p:cNvPr id="16" name="Text 14"/>
          <p:cNvSpPr/>
          <p:nvPr/>
        </p:nvSpPr>
        <p:spPr>
          <a:xfrm>
            <a:off x="6200775" y="3595688"/>
            <a:ext cx="2286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Небольшие тесты вместо большой рекламной кампании.</a:t>
            </a:r>
            <a:endParaRPr lang="en-US" sz="855" dirty="0"/>
          </a:p>
        </p:txBody>
      </p:sp>
      <p:sp>
        <p:nvSpPr>
          <p:cNvPr id="17" name="Text 15"/>
          <p:cNvSpPr/>
          <p:nvPr/>
        </p:nvSpPr>
        <p:spPr>
          <a:xfrm>
            <a:off x="428625" y="4619625"/>
            <a:ext cx="8286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Критерии выбора: ограниченный бюджет · скорость проверки · заметное отличие · измеримый результат</a:t>
            </a:r>
            <a:endParaRPr lang="en-US" sz="499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276225"/>
            <a:ext cx="3333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 / ПЛАН ДЕЙСТВИЙ</a:t>
            </a:r>
            <a:endParaRPr lang="en-US" sz="499" dirty="0"/>
          </a:p>
        </p:txBody>
      </p:sp>
      <p:sp>
        <p:nvSpPr>
          <p:cNvPr id="3" name="Text 1"/>
          <p:cNvSpPr/>
          <p:nvPr/>
        </p:nvSpPr>
        <p:spPr>
          <a:xfrm>
            <a:off x="428625" y="523875"/>
            <a:ext cx="7858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Проверяем стратегию небольшими шагами</a:t>
            </a:r>
            <a:endParaRPr lang="en-US" sz="2138" dirty="0"/>
          </a:p>
        </p:txBody>
      </p:sp>
      <p:sp>
        <p:nvSpPr>
          <p:cNvPr id="4" name="Text 2"/>
          <p:cNvSpPr/>
          <p:nvPr/>
        </p:nvSpPr>
        <p:spPr>
          <a:xfrm>
            <a:off x="428625" y="976312"/>
            <a:ext cx="7143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855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Каждый этап должен дать данные для следующего решения.</a:t>
            </a:r>
            <a:endParaRPr lang="en-US" sz="855" dirty="0"/>
          </a:p>
        </p:txBody>
      </p:sp>
      <p:sp>
        <p:nvSpPr>
          <p:cNvPr id="5" name="Shape 3"/>
          <p:cNvSpPr/>
          <p:nvPr/>
        </p:nvSpPr>
        <p:spPr>
          <a:xfrm>
            <a:off x="428625" y="1619250"/>
            <a:ext cx="1905000" cy="2000250"/>
          </a:xfrm>
          <a:prstGeom prst="roundRect">
            <a:avLst>
              <a:gd name="adj" fmla="val 11520"/>
            </a:avLst>
          </a:prstGeom>
          <a:solidFill>
            <a:srgbClr val="3A98D8"/>
          </a:solidFill>
          <a:ln/>
        </p:spPr>
      </p:sp>
      <p:sp>
        <p:nvSpPr>
          <p:cNvPr id="6" name="Text 4"/>
          <p:cNvSpPr/>
          <p:nvPr/>
        </p:nvSpPr>
        <p:spPr>
          <a:xfrm>
            <a:off x="571500" y="1752600"/>
            <a:ext cx="76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138" dirty="0"/>
          </a:p>
        </p:txBody>
      </p:sp>
      <p:sp>
        <p:nvSpPr>
          <p:cNvPr id="7" name="Text 5"/>
          <p:cNvSpPr/>
          <p:nvPr/>
        </p:nvSpPr>
        <p:spPr>
          <a:xfrm>
            <a:off x="571500" y="2405063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Изучить аудиторию</a:t>
            </a:r>
            <a:endParaRPr lang="en-US" sz="926" dirty="0"/>
          </a:p>
        </p:txBody>
      </p:sp>
      <p:sp>
        <p:nvSpPr>
          <p:cNvPr id="8" name="Text 6"/>
          <p:cNvSpPr/>
          <p:nvPr/>
        </p:nvSpPr>
        <p:spPr>
          <a:xfrm>
            <a:off x="571500" y="2809875"/>
            <a:ext cx="1619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Провести интервью и собрать реальные задачи пользователей Windows.</a:t>
            </a:r>
            <a:endParaRPr lang="en-US" sz="641" dirty="0"/>
          </a:p>
        </p:txBody>
      </p:sp>
      <p:sp>
        <p:nvSpPr>
          <p:cNvPr id="9" name="Shape 7"/>
          <p:cNvSpPr/>
          <p:nvPr/>
        </p:nvSpPr>
        <p:spPr>
          <a:xfrm>
            <a:off x="2524125" y="1619250"/>
            <a:ext cx="1905000" cy="200025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7000" y="1752600"/>
            <a:ext cx="76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138" dirty="0"/>
          </a:p>
        </p:txBody>
      </p:sp>
      <p:sp>
        <p:nvSpPr>
          <p:cNvPr id="11" name="Text 9"/>
          <p:cNvSpPr/>
          <p:nvPr/>
        </p:nvSpPr>
        <p:spPr>
          <a:xfrm>
            <a:off x="2667000" y="2405063"/>
            <a:ext cx="1619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Уточнить позиционирование</a:t>
            </a:r>
            <a:endParaRPr lang="en-US" sz="926" dirty="0"/>
          </a:p>
        </p:txBody>
      </p:sp>
      <p:sp>
        <p:nvSpPr>
          <p:cNvPr id="12" name="Text 10"/>
          <p:cNvSpPr/>
          <p:nvPr/>
        </p:nvSpPr>
        <p:spPr>
          <a:xfrm>
            <a:off x="2667000" y="2809875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Показать отличие: AI выполняет действия, а не только отвечает.</a:t>
            </a:r>
            <a:endParaRPr lang="en-US" sz="641" dirty="0"/>
          </a:p>
        </p:txBody>
      </p:sp>
      <p:sp>
        <p:nvSpPr>
          <p:cNvPr id="13" name="Shape 11"/>
          <p:cNvSpPr/>
          <p:nvPr/>
        </p:nvSpPr>
        <p:spPr>
          <a:xfrm>
            <a:off x="4619625" y="1619250"/>
            <a:ext cx="1905000" cy="200025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62500" y="1752600"/>
            <a:ext cx="76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138" dirty="0"/>
          </a:p>
        </p:txBody>
      </p:sp>
      <p:sp>
        <p:nvSpPr>
          <p:cNvPr id="15" name="Text 13"/>
          <p:cNvSpPr/>
          <p:nvPr/>
        </p:nvSpPr>
        <p:spPr>
          <a:xfrm>
            <a:off x="4762500" y="2405063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Запустить малые тесты</a:t>
            </a:r>
            <a:endParaRPr lang="en-US" sz="926" dirty="0"/>
          </a:p>
        </p:txBody>
      </p:sp>
      <p:sp>
        <p:nvSpPr>
          <p:cNvPr id="16" name="Text 14"/>
          <p:cNvSpPr/>
          <p:nvPr/>
        </p:nvSpPr>
        <p:spPr>
          <a:xfrm>
            <a:off x="4762500" y="2809875"/>
            <a:ext cx="1619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Проверить несколько каналов и вариантов сообщения без крупного бюджета.</a:t>
            </a:r>
            <a:endParaRPr lang="en-US" sz="641" dirty="0"/>
          </a:p>
        </p:txBody>
      </p:sp>
      <p:sp>
        <p:nvSpPr>
          <p:cNvPr id="17" name="Shape 15"/>
          <p:cNvSpPr/>
          <p:nvPr/>
        </p:nvSpPr>
        <p:spPr>
          <a:xfrm>
            <a:off x="6715125" y="1619250"/>
            <a:ext cx="1905000" cy="2000250"/>
          </a:xfrm>
          <a:prstGeom prst="roundRect">
            <a:avLst>
              <a:gd name="adj" fmla="val 11520"/>
            </a:avLst>
          </a:prstGeom>
          <a:solidFill>
            <a:srgbClr val="FFFFFF"/>
          </a:solidFill>
          <a:ln w="9049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752600"/>
            <a:ext cx="762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29" kern="0" dirty="0">
                <a:solidFill>
                  <a:srgbClr val="755BC8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138" dirty="0"/>
          </a:p>
        </p:txBody>
      </p:sp>
      <p:sp>
        <p:nvSpPr>
          <p:cNvPr id="19" name="Text 17"/>
          <p:cNvSpPr/>
          <p:nvPr/>
        </p:nvSpPr>
        <p:spPr>
          <a:xfrm>
            <a:off x="6858000" y="2405063"/>
            <a:ext cx="16192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1E2330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Измерить результат</a:t>
            </a:r>
            <a:endParaRPr lang="en-US" sz="926" dirty="0"/>
          </a:p>
        </p:txBody>
      </p:sp>
      <p:sp>
        <p:nvSpPr>
          <p:cNvPr id="20" name="Text 18"/>
          <p:cNvSpPr/>
          <p:nvPr/>
        </p:nvSpPr>
        <p:spPr>
          <a:xfrm>
            <a:off x="6858000" y="2809875"/>
            <a:ext cx="1619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8"/>
              </a:lnSpc>
              <a:buNone/>
            </a:pPr>
            <a:r>
              <a:rPr lang="en-US" sz="641" dirty="0">
                <a:solidFill>
                  <a:srgbClr val="6B728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Сравнить интерес аудитории, стоимость привлечения и активность пользователей.</a:t>
            </a:r>
            <a:endParaRPr lang="en-US" sz="641" dirty="0"/>
          </a:p>
        </p:txBody>
      </p:sp>
      <p:sp>
        <p:nvSpPr>
          <p:cNvPr id="21" name="Shape 19"/>
          <p:cNvSpPr/>
          <p:nvPr/>
        </p:nvSpPr>
        <p:spPr>
          <a:xfrm>
            <a:off x="428625" y="4000500"/>
            <a:ext cx="8191500" cy="666750"/>
          </a:xfrm>
          <a:prstGeom prst="roundRect">
            <a:avLst>
              <a:gd name="adj" fmla="val 32914"/>
            </a:avLst>
          </a:prstGeom>
          <a:solidFill>
            <a:srgbClr val="755BC8"/>
          </a:solidFill>
          <a:ln/>
        </p:spPr>
      </p:sp>
      <p:sp>
        <p:nvSpPr>
          <p:cNvPr id="22" name="Text 20"/>
          <p:cNvSpPr/>
          <p:nvPr/>
        </p:nvSpPr>
        <p:spPr>
          <a:xfrm>
            <a:off x="590550" y="4124325"/>
            <a:ext cx="20002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1"/>
              </a:lnSpc>
              <a:buNone/>
            </a:pPr>
            <a:r>
              <a:rPr lang="en-US" sz="499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ОЖИДАЕМЫЙ РЕЗУЛЬТАТ</a:t>
            </a:r>
            <a:endParaRPr lang="en-US" sz="499" dirty="0"/>
          </a:p>
        </p:txBody>
      </p:sp>
      <p:sp>
        <p:nvSpPr>
          <p:cNvPr id="23" name="Text 21"/>
          <p:cNvSpPr/>
          <p:nvPr/>
        </p:nvSpPr>
        <p:spPr>
          <a:xfrm>
            <a:off x="2619375" y="4181475"/>
            <a:ext cx="571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1"/>
              </a:lnSpc>
              <a:buNone/>
            </a:pPr>
            <a:r>
              <a:rPr lang="en-US" sz="926" b="1" dirty="0">
                <a:solidFill>
                  <a:srgbClr val="FFFFFF">
                    <a:alpha val="99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Понятное позиционирование, меньше риск бесполезных расходов и решение, основанное на данных.</a:t>
            </a:r>
            <a:endParaRPr lang="en-US" sz="92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2026-10-14T12:47:12Z</dcterms:created>
  <dcterms:modified xsi:type="dcterms:W3CDTF">2026-10-14T12:47:12Z</dcterms:modified>
</cp:coreProperties>
</file>