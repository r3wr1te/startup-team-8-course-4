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A6F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FRIDAY  /  INTERNATIONAL EXPANSION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publikacije.stat.gov.rs/G2026/HtmlE/G20261105.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ite.gov.rs/vest/11837/jovanovic-izvoz-ikt-usluga-za-celokupnu-2025-godinu-premasio-rekordnih-45-milijarde-evra.php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startap.gov.rs/en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friday-assistant.ru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startap.gov.rs/en/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apr.gov.rs/registers/companies/questions-and-answers.4516.html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709160" cy="118872"/>
          </a:xfrm>
          <a:prstGeom prst="rect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56692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E7E9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ПРАКТИЧЕСКОЕ ЗАНЯТИЕ №13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207008"/>
            <a:ext cx="37947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Friday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выходит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 Сербию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66928" y="3675888"/>
            <a:ext cx="3474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8DE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Стратегия международного расширения на 2026–2027 гг.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477316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AE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Рынок выбран не «на глаз»: использованы официальные данные Сербии и публикации 2026 года.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4920" y="768096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DDD7C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SERBIA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148072" y="2029968"/>
            <a:ext cx="5897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это логичный первый зарубежный рынок для Friday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148072" y="2916936"/>
            <a:ext cx="5376672" cy="0"/>
          </a:xfrm>
          <a:prstGeom prst="line">
            <a:avLst/>
          </a:prstGeom>
          <a:noFill/>
          <a:ln w="31750">
            <a:solidFill>
              <a:srgbClr val="C83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48072" y="317296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Голосовой ассистент + управление Windows / Android / Web + аппаратные клиенты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166360" y="4736592"/>
            <a:ext cx="5074920" cy="237744"/>
          </a:xfrm>
          <a:prstGeom prst="rect">
            <a:avLst/>
          </a:prstGeom>
          <a:solidFill>
            <a:srgbClr val="C6363C"/>
          </a:solidFill>
          <a:ln w="12700">
            <a:solidFill>
              <a:srgbClr val="C6363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4974336"/>
            <a:ext cx="5074920" cy="237744"/>
          </a:xfrm>
          <a:prstGeom prst="rect">
            <a:avLst/>
          </a:prstGeom>
          <a:solidFill>
            <a:srgbClr val="1D3E73"/>
          </a:solidFill>
          <a:ln w="12700">
            <a:solidFill>
              <a:srgbClr val="1D3E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166360" y="5212080"/>
            <a:ext cx="5074920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DAD5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69880" y="468172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83D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69880" y="514807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Сербия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60807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Проект Friday • РТУ МИРЭА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ВЫБОР РЫНКА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Почему Сербия — не случайный выбор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Главный аргумент: сочетание доступности для россиян, сформировавшейся русскоязычной среды и технологического рынка.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74520"/>
            <a:ext cx="3401568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874520"/>
            <a:ext cx="64008" cy="1417320"/>
          </a:xfrm>
          <a:prstGeom prst="rect">
            <a:avLst/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3911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96,5%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8775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опрошенных российских иммигрантов чувствуют себя в Сербии безопасно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9535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BCSP, исследование 2025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160520" y="1874520"/>
            <a:ext cx="3401568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874520"/>
            <a:ext cx="64008" cy="1417320"/>
          </a:xfrm>
          <a:prstGeom prst="rect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1688" y="203911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17 103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361688" y="258775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граждан РФ иммигрировали в Сербию в 2024 году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61688" y="29535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50,1% всей иностранной иммиграции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790688" y="1874520"/>
            <a:ext cx="3401568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90688" y="1874520"/>
            <a:ext cx="64008" cy="1417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91856" y="203911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дней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991856" y="2587752"/>
            <a:ext cx="3081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 визы для граждан РФ с обычным паспортом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91856" y="2953512"/>
            <a:ext cx="3081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актуальный визовый режим МИД Сербии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3685032"/>
            <a:ext cx="10661904" cy="2057400"/>
          </a:xfrm>
          <a:prstGeom prst="roundRect">
            <a:avLst>
              <a:gd name="adj" fmla="val 8000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93192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это значит для Friday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4517136"/>
            <a:ext cx="82296" cy="82296"/>
          </a:xfrm>
          <a:prstGeom prst="ellipse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443984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заметная русскоязычная аудитория, которой проще дать первые версии продукта на русском и английском.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822960" y="5047488"/>
            <a:ext cx="82296" cy="82296"/>
          </a:xfrm>
          <a:prstGeom prst="ellipse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974336"/>
            <a:ext cx="4453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Сербия подходит для пилота без необходимости сразу строить дорогую инфраструктуру продаж и поддержки.</a:t>
            </a:r>
            <a:endParaRPr lang="en-US" sz="1230" dirty="0"/>
          </a:p>
        </p:txBody>
      </p:sp>
      <p:sp>
        <p:nvSpPr>
          <p:cNvPr id="26" name="Shape 24"/>
          <p:cNvSpPr/>
          <p:nvPr/>
        </p:nvSpPr>
        <p:spPr>
          <a:xfrm>
            <a:off x="5989320" y="4517136"/>
            <a:ext cx="82296" cy="82296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4443984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Белград даёт сочетание локального IT-сообщества и международной аудитории — удобно для первых партнёрств и бета-тестов.</a:t>
            </a:r>
            <a:endParaRPr lang="en-US" sz="1230" dirty="0"/>
          </a:p>
        </p:txBody>
      </p:sp>
      <p:sp>
        <p:nvSpPr>
          <p:cNvPr id="28" name="Shape 26"/>
          <p:cNvSpPr/>
          <p:nvPr/>
        </p:nvSpPr>
        <p:spPr>
          <a:xfrm>
            <a:off x="5989320" y="5047488"/>
            <a:ext cx="82296" cy="82296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53912" y="4974336"/>
            <a:ext cx="4407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Важно: это не утверждение, что «все хорошо относятся к русским» — вывод опирается на миграционные данные и опросы адаптации.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Статслужба Сербии, релиз 20.04.2026; BCSP 20.02.2025; МИД Сербии — визовый режим РФ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РЫНОК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Сербия: рынок в цифрах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Свежие официальные данные показывают высокий уровень цифровизации и растущий экспорт IT-услуг.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28800"/>
            <a:ext cx="32461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828800"/>
            <a:ext cx="64008" cy="1417320"/>
          </a:xfrm>
          <a:prstGeom prst="rect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93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€4,552 млрд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420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экспорт ИКТ-услуг Сербии за 2025 год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907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опубликовано 20.02.2026 • +10% г/г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977640" y="1828800"/>
            <a:ext cx="3246120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7640" y="1828800"/>
            <a:ext cx="64008" cy="1417320"/>
          </a:xfrm>
          <a:prstGeom prst="rect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78808" y="199339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90,1%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178808" y="254203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домохозяйств имеют интернет-доступ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78808" y="29077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официальное исследование ИКТ за 2025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424928" y="1828800"/>
            <a:ext cx="3767328" cy="1417320"/>
          </a:xfrm>
          <a:prstGeom prst="roundRect">
            <a:avLst>
              <a:gd name="adj" fmla="val 11613"/>
            </a:avLst>
          </a:prstGeom>
          <a:solidFill>
            <a:srgbClr val="FFFFFF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1828800"/>
            <a:ext cx="64008" cy="1417320"/>
          </a:xfrm>
          <a:prstGeom prst="rect">
            <a:avLst/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6096" y="199339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626096" y="2542032"/>
            <a:ext cx="34472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прогноз роста ВВП Сербии в 2026 году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26096" y="2907792"/>
            <a:ext cx="3447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IMF, июнь 2026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30352" y="3593592"/>
            <a:ext cx="6492240" cy="2139696"/>
          </a:xfrm>
          <a:prstGeom prst="roundRect">
            <a:avLst>
              <a:gd name="adj" fmla="val 769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89534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95,5%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322576" y="396849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9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домохозяйств Белграда имеют интернет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4645152"/>
            <a:ext cx="5532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9C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Friday это важнее абстрактного размера населения: продукт требует постоянного соединения, мобильных устройств и пользователей, привыкших к цифровым сервисам.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96912" y="3593592"/>
            <a:ext cx="3895344" cy="2139696"/>
          </a:xfrm>
          <a:prstGeom prst="roundRect">
            <a:avLst>
              <a:gd name="adj" fmla="val 7692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71232" y="38679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Рыночный вывод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571232" y="4370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6096" y="442569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659368" y="4370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442569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747504" y="4370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802368" y="442569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571232" y="4892040"/>
            <a:ext cx="32186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Сербия подходит не как огромный TAM, а как компактный и цифровой тестовый рынок, где можно быстро проверить продукт и затем масштабировать на Балканы.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Канцелярия ИТ и eGovernment Сербии (20.02.2026); SORS ICT 2025; IMF Third Review (15.06.2026)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ЦЕЛЕВАЯ АУДИТОРИЯ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Кому продавать Friday в Сербии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Первый сегмент должен совпадать с сильными сторонами продукта: Windows/Android, автоматизация и голосовое управление.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965960"/>
            <a:ext cx="2414016" cy="3337560"/>
          </a:xfrm>
          <a:prstGeom prst="roundRect">
            <a:avLst>
              <a:gd name="adj" fmla="val 6818"/>
            </a:avLst>
          </a:prstGeom>
          <a:solidFill>
            <a:srgbClr val="F3DADF"/>
          </a:solidFill>
          <a:ln w="12700">
            <a:solidFill>
              <a:srgbClr val="F3DA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212848"/>
            <a:ext cx="475488" cy="475488"/>
          </a:xfrm>
          <a:prstGeom prst="ellipse">
            <a:avLst/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28600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" y="28529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Русскоязычные IT-специалисты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8952" y="3721608"/>
            <a:ext cx="1938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Уже живут в Сербии, часто работают удалённо и могут стать первыми пользователями русской версии.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" y="481888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3816" y="487375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вход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310128" y="1965960"/>
            <a:ext cx="2414016" cy="3337560"/>
          </a:xfrm>
          <a:prstGeom prst="roundRect">
            <a:avLst>
              <a:gd name="adj" fmla="val 6818"/>
            </a:avLst>
          </a:prstGeom>
          <a:solidFill>
            <a:srgbClr val="DCE8F5"/>
          </a:solidFill>
          <a:ln w="12700">
            <a:solidFill>
              <a:srgbClr val="DCE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212848"/>
            <a:ext cx="475488" cy="475488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28600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38728" y="28529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Сербские разработчики и инженеры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38728" y="3721608"/>
            <a:ext cx="1938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Аудитория для open-source интеграций, локальных команд, плагинов и автоматизации рабочего места.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538728" y="481888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93592" y="487375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089904" y="1965960"/>
            <a:ext cx="2414016" cy="3337560"/>
          </a:xfrm>
          <a:prstGeom prst="roundRect">
            <a:avLst>
              <a:gd name="adj" fmla="val 6818"/>
            </a:avLst>
          </a:prstGeom>
          <a:solidFill>
            <a:srgbClr val="E3EEE9"/>
          </a:solidFill>
          <a:ln w="12700">
            <a:solidFill>
              <a:srgbClr val="E3EE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18504" y="2212848"/>
            <a:ext cx="475488" cy="475488"/>
          </a:xfrm>
          <a:prstGeom prst="ellipse">
            <a:avLst/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18504" y="228600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18504" y="28529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Студенты технаправлений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18504" y="3721608"/>
            <a:ext cx="1938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Подходят для раннего тестирования сценариев, робототехники и интеграций с учебными проектами.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18504" y="481888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487375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 adopters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869680" y="1965960"/>
            <a:ext cx="2414016" cy="3337560"/>
          </a:xfrm>
          <a:prstGeom prst="roundRect">
            <a:avLst>
              <a:gd name="adj" fmla="val 6818"/>
            </a:avLst>
          </a:prstGeom>
          <a:solidFill>
            <a:srgbClr val="F1E8D7"/>
          </a:solidFill>
          <a:ln w="12700">
            <a:solidFill>
              <a:srgbClr val="F1E8D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098280" y="2212848"/>
            <a:ext cx="475488" cy="475488"/>
          </a:xfrm>
          <a:prstGeom prst="ellipse">
            <a:avLst/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98280" y="228600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98280" y="2852928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Малые команды и фрилансеры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98280" y="3721608"/>
            <a:ext cx="193852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Могут использовать Friday для запуска программ, быстрых сценариев и управления несколькими устройствами.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98280" y="481888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53144" y="4873752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productivity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30352" y="5605272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Точка входа: Белград → затем Нови-Сад. Не распылять запуск сразу на всю страну.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Сегменты сформированы из позиционирования Friday и структуры русскоязычной аудитории в Сербии; официальный Startup Portal Serbia — локальная экосистема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АДАПТАЦИЯ ПРОДУКТА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изменить в Friday для Сербии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Нужна не отдельная версия продукта, а локализация интерфейса, речи, поддержки и юридических текстов.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993392"/>
            <a:ext cx="2377440" cy="3346704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566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D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27614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Язык и интерфейс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58444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Сербский (латиница) + английский; русский оставить как дополнительный язык. Поддержать сербскую кириллицу в текстовом интерфейсе.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3255264" y="1993392"/>
            <a:ext cx="2377440" cy="3346704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2194560"/>
            <a:ext cx="566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6F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56432" y="27614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Голос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56432" y="358444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ASR/TTS для сербского, локальные названия приложений и команд. Сохранить wake-word «Friday», чтобы бренд не менялся по странам.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980176" y="1993392"/>
            <a:ext cx="2377440" cy="3346704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2194560"/>
            <a:ext cx="566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D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81344" y="27614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Приватность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181344" y="358444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Понятное согласие на микрофон/скриншоты, минимум хранения аудио, отдельные настройки для облачных и локальных функций.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705088" y="1993392"/>
            <a:ext cx="2377440" cy="3346704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06256" y="2194560"/>
            <a:ext cx="5669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6F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906256" y="2761488"/>
            <a:ext cx="19385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Поддержка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6256" y="3584448"/>
            <a:ext cx="19385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База знаний на сербском и английском; на старте — цифровая поддержка без дорогого локального call-центра.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30352" y="5486400"/>
            <a:ext cx="10661904" cy="493776"/>
          </a:xfrm>
          <a:prstGeom prst="roundRect">
            <a:avLst>
              <a:gd name="adj" fmla="val 33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5528" y="5614416"/>
            <a:ext cx="10131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Монетизация на пилоте: сохранить бесплатный доступ из текущей модели Friday — меньше платёжных и санкционных рисков на первом этапе.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Исходная модель Friday: бесплатный доступ для пользователей; архитектура включает Windows, Android, Web и Raspberry Pi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ПРОДВИЖЕНИЕ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получить первых пользователей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Вместо дорогой рекламы — продуктовый запуск через сообщества, open-source и локальные партнёрства.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143000" y="1965960"/>
            <a:ext cx="9921240" cy="658368"/>
          </a:xfrm>
          <a:prstGeom prst="roundRect">
            <a:avLst>
              <a:gd name="adj" fmla="val 19444"/>
            </a:avLst>
          </a:prstGeom>
          <a:solidFill>
            <a:srgbClr val="E9EEF5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456" y="20939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Узнаваемость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2971800" y="2103120"/>
            <a:ext cx="7854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• Product Hunt • сербские IT-медиа и сообщества • русскоязычные tech-чаты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810512" y="2816352"/>
            <a:ext cx="8595360" cy="658368"/>
          </a:xfrm>
          <a:prstGeom prst="roundRect">
            <a:avLst>
              <a:gd name="adj" fmla="val 19444"/>
            </a:avLst>
          </a:prstGeom>
          <a:solidFill>
            <a:srgbClr val="DFE8F0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29968" y="29443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Интерес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3639312" y="2953512"/>
            <a:ext cx="6528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Демо-видео: «голосом запускаю сценарий на Windows + Android» • публичный roadmap • waitlist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468880" y="3666744"/>
            <a:ext cx="7269480" cy="658368"/>
          </a:xfrm>
          <a:prstGeom prst="roundRect">
            <a:avLst>
              <a:gd name="adj" fmla="val 19444"/>
            </a:avLst>
          </a:prstGeom>
          <a:solidFill>
            <a:srgbClr val="D6E1EB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88336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Пилот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4297680" y="3803904"/>
            <a:ext cx="5202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Бета в Белграде и Нови-Саде • обратная связь от разработчиков, студентов и удалённых специалистов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3127248" y="4517136"/>
            <a:ext cx="5943600" cy="658368"/>
          </a:xfrm>
          <a:prstGeom prst="roundRect">
            <a:avLst>
              <a:gd name="adj" fmla="val 19444"/>
            </a:avLst>
          </a:prstGeom>
          <a:solidFill>
            <a:srgbClr val="CBD9E6"/>
          </a:solidFill>
          <a:ln w="12700">
            <a:solidFill>
              <a:srgbClr val="C6D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464515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Партнёрства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956048" y="4654296"/>
            <a:ext cx="38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Коворкинги • университетские клубы • локальные интеграторы и стартап-организации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566928" y="5440680"/>
            <a:ext cx="1298448" cy="310896"/>
          </a:xfrm>
          <a:prstGeom prst="roundRect">
            <a:avLst>
              <a:gd name="adj" fmla="val 35294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54955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SOURCE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84832" y="5376672"/>
            <a:ext cx="8796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Сильный ход для Friday — дать разработчикам расширять ассистента своими командами и интеграциями. Это снижает стоимость локализации и создаёт комьюнити вокруг продукта.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Startup Portal Serbia: организации, коворкинги, мероприятия и поддержка стартапов; каналы GitHub/Product Hunt заложены в текущей презентации Friday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СТРАТЕГИЯ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Поэтапный выход на рынок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Последовательность важнее масштаба: сначала доказать спрос, потом оформлять локальную операционную модель.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889504" y="2743200"/>
            <a:ext cx="310896" cy="530352"/>
          </a:xfrm>
          <a:prstGeom prst="chevron">
            <a:avLst/>
          </a:prstGeom>
          <a:solidFill>
            <a:srgbClr val="CFC9BE"/>
          </a:solidFill>
          <a:ln w="12700">
            <a:solidFill>
              <a:srgbClr val="CFC9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993392"/>
            <a:ext cx="2377440" cy="3364992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94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D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55648" y="2221992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2276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Локализация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67588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Сербский UI, базовые голосовые команды, политика приватности, лендинг на ser/eng/ru.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614416" y="2743200"/>
            <a:ext cx="310896" cy="530352"/>
          </a:xfrm>
          <a:prstGeom prst="chevron">
            <a:avLst/>
          </a:prstGeom>
          <a:solidFill>
            <a:srgbClr val="CFC9BE"/>
          </a:solidFill>
          <a:ln w="12700">
            <a:solidFill>
              <a:srgbClr val="CFC9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55264" y="1993392"/>
            <a:ext cx="2377440" cy="3364992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194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6FB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480560" y="2221992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35424" y="2276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 2026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56432" y="288036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Закрытая beta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56432" y="367588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Тестирование в Белграде/Нови-Саде, сбор сценариев и проблем распознавания речи.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8339328" y="2743200"/>
            <a:ext cx="310896" cy="530352"/>
          </a:xfrm>
          <a:prstGeom prst="chevron">
            <a:avLst/>
          </a:prstGeom>
          <a:solidFill>
            <a:srgbClr val="CFC9BE"/>
          </a:solidFill>
          <a:ln w="12700">
            <a:solidFill>
              <a:srgbClr val="CFC9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80176" y="1993392"/>
            <a:ext cx="2377440" cy="3364992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81344" y="2194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0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205472" y="2221992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3A8068"/>
          </a:solidFill>
          <a:ln w="12700">
            <a:solidFill>
              <a:srgbClr val="3A806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0336" y="2276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 2027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81344" y="288036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Публичный запуск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81344" y="367588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+ Product Hunt + локальные IT-сообщества, демо Windows/Android, программа партнёров.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8705088" y="1993392"/>
            <a:ext cx="2377440" cy="3364992"/>
          </a:xfrm>
          <a:prstGeom prst="roundRect">
            <a:avLst>
              <a:gd name="adj" fmla="val 692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06256" y="2194560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84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930384" y="2221992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85248" y="2276856"/>
            <a:ext cx="786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после product-market fit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906256" y="2880360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906256" y="3675888"/>
            <a:ext cx="1956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Расширение на соседние рынки Балкан и подключение локальных платёжных/партнёрских сервисов.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530352" y="5623560"/>
            <a:ext cx="106619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Критерий перехода между этапами: реальные пользовательские сценарии и стабильность продукта, а не заранее придуманная цифра пользователей.</a:t>
            </a:r>
            <a:endParaRPr lang="en-US" sz="1330" dirty="0"/>
          </a:p>
        </p:txBody>
      </p:sp>
      <p:sp>
        <p:nvSpPr>
          <p:cNvPr id="33" name="Text 31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 — проектное решение команды Friday; сроки привязаны к текущей дате (октябрь 2026), а не к вымышленным рыночным показателям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ЮРИДИЧЕСКАЯ МОДЕЛЬ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работать легально и без лишней сложности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этапе проверки спроса — удалённый запуск. Локальное юрлицо имеет смысл после подтверждения устойчивого спроса.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901952"/>
            <a:ext cx="5010912" cy="3547872"/>
          </a:xfrm>
          <a:prstGeom prst="roundRect">
            <a:avLst>
              <a:gd name="adj" fmla="val 4639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До локального юрлица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2907792"/>
            <a:ext cx="82296" cy="82296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834640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Публичный продукт, GitHub, онлайн-поддержка и сбор обратной связи.</a:t>
            </a:r>
            <a:endParaRPr lang="en-US" sz="1160" dirty="0"/>
          </a:p>
        </p:txBody>
      </p:sp>
      <p:sp>
        <p:nvSpPr>
          <p:cNvPr id="9" name="Shape 7"/>
          <p:cNvSpPr/>
          <p:nvPr/>
        </p:nvSpPr>
        <p:spPr>
          <a:xfrm>
            <a:off x="822960" y="3511296"/>
            <a:ext cx="82296" cy="82296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438144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обещать локальные платежи/договоры, пока не настроена юридическая и банковская схема.</a:t>
            </a:r>
            <a:endParaRPr lang="en-US" sz="1160" dirty="0"/>
          </a:p>
        </p:txBody>
      </p:sp>
      <p:sp>
        <p:nvSpPr>
          <p:cNvPr id="11" name="Shape 9"/>
          <p:cNvSpPr/>
          <p:nvPr/>
        </p:nvSpPr>
        <p:spPr>
          <a:xfrm>
            <a:off x="822960" y="4114800"/>
            <a:ext cx="82296" cy="82296"/>
          </a:xfrm>
          <a:prstGeom prst="ellipse">
            <a:avLst/>
          </a:prstGeom>
          <a:solidFill>
            <a:srgbClr val="3B6FB6"/>
          </a:solidFill>
          <a:ln w="12700">
            <a:solidFill>
              <a:srgbClr val="3B6F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4041648"/>
            <a:ext cx="4041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Документы по данным и микрофону локализовать заранее — это влияет на доверие.</a:t>
            </a:r>
            <a:endParaRPr lang="en-US" sz="1160" dirty="0"/>
          </a:p>
        </p:txBody>
      </p:sp>
      <p:sp>
        <p:nvSpPr>
          <p:cNvPr id="13" name="Shape 11"/>
          <p:cNvSpPr/>
          <p:nvPr/>
        </p:nvSpPr>
        <p:spPr>
          <a:xfrm>
            <a:off x="5779008" y="1901952"/>
            <a:ext cx="5413248" cy="3547872"/>
          </a:xfrm>
          <a:prstGeom prst="roundRect">
            <a:avLst>
              <a:gd name="adj" fmla="val 4639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9904" y="2176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Когда спрос подтверждён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089904" y="2761488"/>
            <a:ext cx="4507992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2E7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Иностранное физлицо может быть учредителем компании в Сербии; при регистрации используются данные паспорта. Учреждение компаний подаётся электронно, а для e-регистрации нужен квалифицированный электронный сертификат, выданный в Сербии.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6089904" y="4507992"/>
            <a:ext cx="1389888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44768" y="45628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/ e-REG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662672" y="4443984"/>
            <a:ext cx="2889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C0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Практически: оформлять локальное DOO через сербского юриста/бухгалтера, когда появится необходимость в местных договорах и расчётах.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u="sng" dirty="0">
                <a:solidFill>
                  <a:srgbClr val="66717D"/>
                </a:solidFill>
                <a:uFill>
                  <a:solidFill>
                    <a:srgbClr val="66717D"/>
                  </a:solidFill>
                </a:uFill>
                <a:latin typeface="Aptos" pitchFamily="34" charset="0"/>
                <a:ea typeface="Aptos" pitchFamily="34" charset="-122"/>
                <a:cs typeface="Apto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Serbian Business Registers Agency (APR): правила для иностранных учредителей и обязательная электронная регистрация компаний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РИСКИ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Основные риски и как их снизить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Международный запуск — это не только маркетинг. Для Friday самые чувствительные зоны — API, данные, политика и локализация речи.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83664"/>
            <a:ext cx="10661904" cy="475488"/>
          </a:xfrm>
          <a:prstGeom prst="roundRect">
            <a:avLst>
              <a:gd name="adj" fmla="val 1923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01168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82112" y="201168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Уровень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498848" y="2011680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делаем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" y="2450592"/>
            <a:ext cx="1066190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87752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Геополитика / платежи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154680" y="2569464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9544" y="2624328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Высокий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498848" y="2560320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Пилот без платной подписки; локальная банковская схема только после консультации и юрлица.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30352" y="3108960"/>
            <a:ext cx="10661904" cy="585216"/>
          </a:xfrm>
          <a:prstGeom prst="rect">
            <a:avLst/>
          </a:prstGeom>
          <a:solidFill>
            <a:srgbClr val="FBF9F4"/>
          </a:solidFill>
          <a:ln w="7620">
            <a:solidFill>
              <a:srgbClr val="E5E0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46120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Зависимость от облачных AI/API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3154680" y="3227832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C83D4B"/>
          </a:solidFill>
          <a:ln w="12700">
            <a:solidFill>
              <a:srgbClr val="C83D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9544" y="3282696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Высокий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498848" y="3218688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Абстракция провайдеров, fallback-модели, локальные функции должны работать отдельно от облака.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30352" y="3767328"/>
            <a:ext cx="1066190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904488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Качество сербской речи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154680" y="3886200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9544" y="3941064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Средний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498848" y="3877056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Запуск с ограниченным набором команд, логирование ошибок по согласию, итеративное расширение.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530352" y="4425696"/>
            <a:ext cx="10661904" cy="585216"/>
          </a:xfrm>
          <a:prstGeom prst="rect">
            <a:avLst/>
          </a:prstGeom>
          <a:solidFill>
            <a:srgbClr val="FBF9F4"/>
          </a:solidFill>
          <a:ln w="7620">
            <a:solidFill>
              <a:srgbClr val="E5E0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562856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Приватность и доверие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3154680" y="4544568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9544" y="4599432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Средний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498848" y="4535424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Ясно показывать, когда слушается микрофон и когда делается скриншот; минимум хранения данных.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530352" y="5084064"/>
            <a:ext cx="10661904" cy="585216"/>
          </a:xfrm>
          <a:prstGeom prst="rect">
            <a:avLst/>
          </a:prstGeom>
          <a:solidFill>
            <a:srgbClr val="FFFFFF"/>
          </a:solidFill>
          <a:ln w="7620">
            <a:solidFill>
              <a:srgbClr val="E5E0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221224"/>
            <a:ext cx="2304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Слишком широкий запуск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3154680" y="5202936"/>
            <a:ext cx="960120" cy="310896"/>
          </a:xfrm>
          <a:prstGeom prst="roundRect">
            <a:avLst>
              <a:gd name="adj" fmla="val 35294"/>
            </a:avLst>
          </a:prstGeom>
          <a:solidFill>
            <a:srgbClr val="B9842B"/>
          </a:solidFill>
          <a:ln w="12700">
            <a:solidFill>
              <a:srgbClr val="B984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9544" y="5257800"/>
            <a:ext cx="850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Средний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498848" y="519379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Сначала Белград/Нови-Сад и tech-аудитория; масштабирование только после подтверждённого спроса.</a:t>
            </a:r>
            <a:endParaRPr lang="en-US" sz="1030" dirty="0"/>
          </a:p>
        </p:txBody>
      </p:sp>
      <p:sp>
        <p:nvSpPr>
          <p:cNvPr id="34" name="Text 32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Риски сформированы из архитектуры Friday, международной модели запуска и текущих требований практического задания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4023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ВЫВОД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Сербия — хороший первый зарубежный рынок для Friday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самый большой рынок, зато удобный для проверки гипотезы продукта и международной операционной модели.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30352" y="1847088"/>
            <a:ext cx="4846320" cy="3529584"/>
          </a:xfrm>
          <a:prstGeom prst="roundRect">
            <a:avLst>
              <a:gd name="adj" fmla="val 466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21762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AAB5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РЕШЕНИЕ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578608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Выходить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41248" y="3310128"/>
            <a:ext cx="39136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5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через локализованный бесплатный MVP и tech-сообщества, без дорогой инфраструктуры на старте.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" y="4480560"/>
            <a:ext cx="3383280" cy="0"/>
          </a:xfrm>
          <a:prstGeom prst="line">
            <a:avLst/>
          </a:prstGeom>
          <a:noFill/>
          <a:ln w="38100">
            <a:solidFill>
              <a:srgbClr val="C83D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73659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Первые города: Белград → Нови-Сад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50992" y="1847088"/>
            <a:ext cx="5541264" cy="3529584"/>
          </a:xfrm>
          <a:prstGeom prst="roundRect">
            <a:avLst>
              <a:gd name="adj" fmla="val 4663"/>
            </a:avLst>
          </a:prstGeom>
          <a:solidFill>
            <a:srgbClr val="FFFDFC"/>
          </a:solidFill>
          <a:ln w="12700">
            <a:solidFill>
              <a:srgbClr val="E2DD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Ключевые источники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0" y="267004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SORS, 20.04.2026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726680" y="267004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Иммиграция иностранцев: РФ — 17 103 / 50,1%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5943600" y="30266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Office for IT &amp; eGov, 20.02.2026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26680" y="302666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Экспорт ИКТ за 2025: €4,552 млрд, +10%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5943600" y="33832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C83D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IMF, 15.06.2026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26680" y="3383280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Рост экономики Сербии в 2026: около 2,8%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5943600" y="373989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SORS ICT, 24.10.2025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26680" y="3739896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Интернет: 90,1% домохозяйств; Белград — 95,5%</a:t>
            </a:r>
            <a:endParaRPr lang="en-US" sz="870" dirty="0"/>
          </a:p>
        </p:txBody>
      </p:sp>
      <p:sp>
        <p:nvSpPr>
          <p:cNvPr id="21" name="Text 19"/>
          <p:cNvSpPr/>
          <p:nvPr/>
        </p:nvSpPr>
        <p:spPr>
          <a:xfrm>
            <a:off x="5943600" y="409651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BCSP, 20.02.2025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26680" y="409651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96,5% россиян чувствуют себя безопасно; 81,5% адаптированы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5943600" y="44531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МИД Сербии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26680" y="4453128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Безвизовый въезд граждан РФ до 30 дней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5943600" y="480974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Serbia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726680" y="4809744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Правила регистрации и иностранных учредителей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530352" y="5669280"/>
            <a:ext cx="10661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Итог: данные 2026 года использованы там, где они уже опубликованы. Если показатель за 2026 ещё не вышел, указан последний официальный год и дата публикации.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530352" y="6144768"/>
            <a:ext cx="10744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b="1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Источник: </a:t>
            </a:r>
            <a:pPr indent="0" marL="0">
              <a:buNone/>
            </a:pPr>
            <a:r>
              <a:rPr lang="en-US" sz="730" dirty="0">
                <a:solidFill>
                  <a:srgbClr val="6671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Полный список ссылок: stat.gov.rs • ite.gov.rs • imf.org • mfa.gov.rs • bezbednost.org • apr.gov.rs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37392" y="6419088"/>
            <a:ext cx="530352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A6F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RTU MIREA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Friday × Serbia — стратегия выхода на рынок</dc:title>
  <dc:subject>Практическое занятие №13 — международное расширение Friday</dc:subject>
  <dc:creator>OpenAI</dc:creator>
  <cp:lastModifiedBy>OpenAI</cp:lastModifiedBy>
  <cp:revision>1</cp:revision>
  <dcterms:created xsi:type="dcterms:W3CDTF">2026-10-14T14:35:14Z</dcterms:created>
  <dcterms:modified xsi:type="dcterms:W3CDTF">2026-10-14T14:35:14Z</dcterms:modified>
</cp:coreProperties>
</file>